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7" r:id="rId10"/>
    <p:sldId id="268" r:id="rId11"/>
    <p:sldId id="264" r:id="rId12"/>
    <p:sldId id="273" r:id="rId13"/>
    <p:sldId id="266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F4D"/>
    <a:srgbClr val="192F4D"/>
    <a:srgbClr val="00C49A"/>
    <a:srgbClr val="24CCA8"/>
    <a:srgbClr val="9B59B6"/>
    <a:srgbClr val="F4B243"/>
    <a:srgbClr val="4C94DF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BA9A3D-5589-09B3-16C5-1A9992B10C90}" v="114" dt="2026-04-09T15:49:35.359"/>
    <p1510:client id="{5A76149B-9646-122F-F821-A3CA5DF5510C}" v="8" dt="2026-04-09T16:05:05.602"/>
    <p1510:client id="{6C24D8EF-6EE9-FC5D-69C0-84968B4147D2}" v="2" dt="2026-04-08T18:08:24.344"/>
    <p1510:client id="{836F8B60-893D-428C-A57F-2833252FC438}" v="824" dt="2026-04-09T04:35:30.947"/>
    <p1510:client id="{B94FE2FC-50A6-84C7-EC01-6D026FF05E63}" v="359" dt="2026-04-09T16:21:54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19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42C65-CCFF-114C-1ECB-CEEDCC73E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71FC6-B7FA-2C1B-8B4A-AD53E7ECA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BC5D3-D5F2-9C08-AD6E-83CDF24EC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137A2-30A2-97CD-FF4E-306FE27E21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25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04B1-F6EC-AD4E-0E96-21BAED56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C7922-72E0-1923-EC2D-01287E9C9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F1E30F-1B97-1010-D16E-6A3D5B640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B494F-A552-70A1-3282-7248F3245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38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BE51F9DA-0E83-D450-2263-5DC0DC0E8E18}"/>
              </a:ext>
            </a:extLst>
          </p:cNvPr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915F619C-D840-05ED-48F6-B8678164E0B9}"/>
              </a:ext>
            </a:extLst>
          </p:cNvPr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5DCAA5">
              <a:alpha val="30000"/>
            </a:srgbClr>
          </a:solidFill>
          <a:ln w="12700">
            <a:solidFill>
              <a:srgbClr val="5DCAA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A984353-C64B-6A49-D524-7BB2D1FEC7F1}"/>
              </a:ext>
            </a:extLst>
          </p:cNvPr>
          <p:cNvSpPr/>
          <p:nvPr/>
        </p:nvSpPr>
        <p:spPr>
          <a:xfrm>
            <a:off x="2011680" y="3474720"/>
            <a:ext cx="1828800" cy="1828800"/>
          </a:xfrm>
          <a:prstGeom prst="ellipse">
            <a:avLst/>
          </a:prstGeom>
          <a:solidFill>
            <a:srgbClr val="085041">
              <a:alpha val="50000"/>
            </a:srgbClr>
          </a:solidFill>
          <a:ln w="12700">
            <a:solidFill>
              <a:srgbClr val="0850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F9D4B33E-AF1F-1D1E-72A8-A2D7A951CE7D}"/>
              </a:ext>
            </a:extLst>
          </p:cNvPr>
          <p:cNvSpPr/>
          <p:nvPr/>
        </p:nvSpPr>
        <p:spPr>
          <a:xfrm>
            <a:off x="1097280" y="640080"/>
            <a:ext cx="1280160" cy="17373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804A4345-C516-BB0D-47B0-6DA2FEAEBCDD}"/>
              </a:ext>
            </a:extLst>
          </p:cNvPr>
          <p:cNvSpPr/>
          <p:nvPr/>
        </p:nvSpPr>
        <p:spPr>
          <a:xfrm>
            <a:off x="1097280" y="640080"/>
            <a:ext cx="1280160" cy="6858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3163CA88-6B02-B364-ED3B-58C613A78381}"/>
              </a:ext>
            </a:extLst>
          </p:cNvPr>
          <p:cNvSpPr/>
          <p:nvPr/>
        </p:nvSpPr>
        <p:spPr>
          <a:xfrm>
            <a:off x="1965960" y="1463040"/>
            <a:ext cx="54864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519283C2-3DF1-E470-46DE-656712D8AC31}"/>
              </a:ext>
            </a:extLst>
          </p:cNvPr>
          <p:cNvSpPr/>
          <p:nvPr/>
        </p:nvSpPr>
        <p:spPr>
          <a:xfrm>
            <a:off x="22860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Smart Fridge</a:t>
            </a:r>
            <a:endParaRPr lang="en-US" sz="220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9A21E8A-103A-56B0-95BC-A5D7DD9DB12F}"/>
              </a:ext>
            </a:extLst>
          </p:cNvPr>
          <p:cNvSpPr/>
          <p:nvPr/>
        </p:nvSpPr>
        <p:spPr>
          <a:xfrm>
            <a:off x="228600" y="29077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8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Dashboard</a:t>
            </a:r>
            <a:endParaRPr lang="en-US" sz="130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56A1973-369A-385E-FC9D-85783C3D602A}"/>
              </a:ext>
            </a:extLst>
          </p:cNvPr>
          <p:cNvSpPr/>
          <p:nvPr/>
        </p:nvSpPr>
        <p:spPr>
          <a:xfrm>
            <a:off x="3749040" y="6400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Smart Refrigerator</a:t>
            </a:r>
            <a:endParaRPr lang="en-US" sz="280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16F77A8-0321-02E2-A22F-401E74A8F50C}"/>
              </a:ext>
            </a:extLst>
          </p:cNvPr>
          <p:cNvSpPr/>
          <p:nvPr/>
        </p:nvSpPr>
        <p:spPr>
          <a:xfrm>
            <a:off x="3749040" y="1188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Predictive Spoilage Alerts</a:t>
            </a:r>
            <a:endParaRPr lang="en-US" sz="220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D93D3D9-5C4D-2F6C-5ABB-26B68DCDC6AE}"/>
              </a:ext>
            </a:extLst>
          </p:cNvPr>
          <p:cNvSpPr/>
          <p:nvPr/>
        </p:nvSpPr>
        <p:spPr>
          <a:xfrm>
            <a:off x="374904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MERN + IoT Research Project</a:t>
            </a:r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B2793D56-9819-5C0A-D9F8-98A9450270F7}"/>
              </a:ext>
            </a:extLst>
          </p:cNvPr>
          <p:cNvSpPr/>
          <p:nvPr/>
        </p:nvSpPr>
        <p:spPr>
          <a:xfrm>
            <a:off x="3749040" y="2103120"/>
            <a:ext cx="5029200" cy="13716"/>
          </a:xfrm>
          <a:prstGeom prst="rect">
            <a:avLst/>
          </a:prstGeom>
          <a:solidFill>
            <a:srgbClr val="1D9E75">
              <a:alpha val="60000"/>
            </a:srgbClr>
          </a:solidFill>
          <a:ln w="12700">
            <a:solidFill>
              <a:srgbClr val="1D9E7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E299D744-3939-A7F6-AF8E-8EFDA391326E}"/>
              </a:ext>
            </a:extLst>
          </p:cNvPr>
          <p:cNvSpPr/>
          <p:nvPr/>
        </p:nvSpPr>
        <p:spPr>
          <a:xfrm>
            <a:off x="3749040" y="22402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BC386A84-692E-7D50-5E34-68D2ECF661D8}"/>
              </a:ext>
            </a:extLst>
          </p:cNvPr>
          <p:cNvSpPr/>
          <p:nvPr/>
        </p:nvSpPr>
        <p:spPr>
          <a:xfrm>
            <a:off x="3749040" y="2514600"/>
            <a:ext cx="50292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DCA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41000884-214C-A4CC-50B2-2B1C90C4FFCB}"/>
              </a:ext>
            </a:extLst>
          </p:cNvPr>
          <p:cNvSpPr/>
          <p:nvPr/>
        </p:nvSpPr>
        <p:spPr>
          <a:xfrm>
            <a:off x="3749040" y="2514600"/>
            <a:ext cx="54864" cy="56692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05AF4606-DBBC-1637-369B-449557CC9D96}"/>
              </a:ext>
            </a:extLst>
          </p:cNvPr>
          <p:cNvSpPr/>
          <p:nvPr/>
        </p:nvSpPr>
        <p:spPr>
          <a:xfrm>
            <a:off x="3886200" y="2569464"/>
            <a:ext cx="475488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Aatiqah Harmine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EE1E8D6B-EC9B-EB78-E0FB-D4C717143D23}"/>
              </a:ext>
            </a:extLst>
          </p:cNvPr>
          <p:cNvSpPr/>
          <p:nvPr/>
        </p:nvSpPr>
        <p:spPr>
          <a:xfrm>
            <a:off x="3886200" y="2798064"/>
            <a:ext cx="475488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C49A"/>
                </a:solidFill>
                <a:latin typeface="Calibri"/>
                <a:ea typeface="Calibri"/>
                <a:cs typeface="Calibri"/>
              </a:rPr>
              <a:t>2303A51860</a:t>
            </a: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EFE17CB0-5804-E45E-1199-CD6730EEC4E3}"/>
              </a:ext>
            </a:extLst>
          </p:cNvPr>
          <p:cNvSpPr/>
          <p:nvPr/>
        </p:nvSpPr>
        <p:spPr>
          <a:xfrm>
            <a:off x="3749040" y="3172968"/>
            <a:ext cx="50292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DCA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C1BF68EF-9A86-8CD8-77B6-1C1317F9E7F8}"/>
              </a:ext>
            </a:extLst>
          </p:cNvPr>
          <p:cNvSpPr/>
          <p:nvPr/>
        </p:nvSpPr>
        <p:spPr>
          <a:xfrm>
            <a:off x="3749040" y="3172968"/>
            <a:ext cx="54864" cy="56692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F684E9B1-170F-6796-1F3C-D90569919A60}"/>
              </a:ext>
            </a:extLst>
          </p:cNvPr>
          <p:cNvSpPr/>
          <p:nvPr/>
        </p:nvSpPr>
        <p:spPr>
          <a:xfrm>
            <a:off x="3886200" y="3227832"/>
            <a:ext cx="475488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bg1"/>
                </a:solidFill>
              </a:rPr>
              <a:t>Anushka Voorugonda</a:t>
            </a:r>
            <a:endParaRPr lang="en-US" sz="12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AC785985-6488-A24B-471F-8AC3DDA8072D}"/>
              </a:ext>
            </a:extLst>
          </p:cNvPr>
          <p:cNvSpPr/>
          <p:nvPr/>
        </p:nvSpPr>
        <p:spPr>
          <a:xfrm>
            <a:off x="3886200" y="3456432"/>
            <a:ext cx="475488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C49A"/>
                </a:solidFill>
                <a:latin typeface="Calibri"/>
                <a:ea typeface="Calibri"/>
                <a:cs typeface="Calibri"/>
              </a:rPr>
              <a:t>2303A51176</a:t>
            </a: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9942C201-D3E8-4672-EC10-23FF531680CC}"/>
              </a:ext>
            </a:extLst>
          </p:cNvPr>
          <p:cNvSpPr/>
          <p:nvPr/>
        </p:nvSpPr>
        <p:spPr>
          <a:xfrm>
            <a:off x="3749040" y="3831336"/>
            <a:ext cx="50292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DCA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4F8019CC-69BE-3A81-34C6-C779F3708E2C}"/>
              </a:ext>
            </a:extLst>
          </p:cNvPr>
          <p:cNvSpPr/>
          <p:nvPr/>
        </p:nvSpPr>
        <p:spPr>
          <a:xfrm>
            <a:off x="3749040" y="3831336"/>
            <a:ext cx="54864" cy="56692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5FCEAD3A-F113-0B74-A211-F782ACFE25D3}"/>
              </a:ext>
            </a:extLst>
          </p:cNvPr>
          <p:cNvSpPr/>
          <p:nvPr/>
        </p:nvSpPr>
        <p:spPr>
          <a:xfrm>
            <a:off x="3886200" y="38862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Fariyal</a:t>
            </a:r>
            <a:endParaRPr lang="en-US" sz="1200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C17BFED1-2E5D-113B-282F-D889370B6E5B}"/>
              </a:ext>
            </a:extLst>
          </p:cNvPr>
          <p:cNvSpPr/>
          <p:nvPr/>
        </p:nvSpPr>
        <p:spPr>
          <a:xfrm>
            <a:off x="3886200" y="4114800"/>
            <a:ext cx="475488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0C49A"/>
                </a:solidFill>
                <a:latin typeface="Calibri"/>
                <a:ea typeface="Calibri"/>
                <a:cs typeface="Calibri"/>
              </a:rPr>
              <a:t>2303A51598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AD8EA7EC-1B62-52B8-9985-8A5AC76F37EB}"/>
              </a:ext>
            </a:extLst>
          </p:cNvPr>
          <p:cNvSpPr/>
          <p:nvPr/>
        </p:nvSpPr>
        <p:spPr>
          <a:xfrm>
            <a:off x="3749040" y="4453128"/>
            <a:ext cx="50292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DCA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AED6E891-3E26-EB71-702F-82E15AFA0E2A}"/>
              </a:ext>
            </a:extLst>
          </p:cNvPr>
          <p:cNvSpPr/>
          <p:nvPr/>
        </p:nvSpPr>
        <p:spPr>
          <a:xfrm>
            <a:off x="3770687" y="4453128"/>
            <a:ext cx="54864" cy="566928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30F48E-F1CF-87C0-D307-0A32317C61A8}"/>
              </a:ext>
            </a:extLst>
          </p:cNvPr>
          <p:cNvSpPr txBox="1"/>
          <p:nvPr/>
        </p:nvSpPr>
        <p:spPr>
          <a:xfrm>
            <a:off x="3886200" y="4453128"/>
            <a:ext cx="46849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B. Spoorthi</a:t>
            </a:r>
          </a:p>
          <a:p>
            <a:r>
              <a:rPr lang="en-US" sz="1100">
                <a:solidFill>
                  <a:srgbClr val="24CCA8"/>
                </a:solidFill>
              </a:rPr>
              <a:t>2303A51802</a:t>
            </a:r>
            <a:endParaRPr lang="en-IN" sz="1100">
              <a:solidFill>
                <a:srgbClr val="24CCA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13405" y="27509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Introduction -The Problem of Food Waste</a:t>
            </a:r>
            <a:endParaRPr lang="en-US" sz="2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27777" y="2218804"/>
            <a:ext cx="4023360" cy="2639391"/>
          </a:xfrm>
          <a:prstGeom prst="rect">
            <a:avLst/>
          </a:prstGeom>
          <a:solidFill>
            <a:srgbClr val="F0FAF7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31" y="2261355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097" y="2794038"/>
            <a:ext cx="347472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4846322" y="2216036"/>
            <a:ext cx="3931917" cy="2642159"/>
          </a:xfrm>
          <a:prstGeom prst="rect">
            <a:avLst/>
          </a:prstGeom>
          <a:solidFill>
            <a:srgbClr val="F0FAF7"/>
          </a:solidFill>
          <a:ln w="12700">
            <a:solidFill>
              <a:srgbClr val="00C49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630" y="2316154"/>
            <a:ext cx="441707" cy="4417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91751" y="2344564"/>
            <a:ext cx="3003609" cy="372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/>
          </a:p>
        </p:txBody>
      </p:sp>
      <p:sp>
        <p:nvSpPr>
          <p:cNvPr id="12" name="Shape 8"/>
          <p:cNvSpPr/>
          <p:nvPr/>
        </p:nvSpPr>
        <p:spPr>
          <a:xfrm>
            <a:off x="5020630" y="2799595"/>
            <a:ext cx="3356974" cy="45719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058604" y="3087484"/>
            <a:ext cx="3445316" cy="1827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8DF26BCD-DF58-2495-653D-870AA0768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303" y="2701698"/>
            <a:ext cx="3675529" cy="1997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Traditional refrigerators do not track food items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No real-time monitoring of temperature or freshness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Leads to food waste and health issues 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7ADC1D31-B9CD-E0B4-1D78-37ABBB2AE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750268"/>
            <a:ext cx="3702497" cy="1900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1600">
                <a:latin typeface="Calibri"/>
                <a:ea typeface="Calibri"/>
                <a:cs typeface="Calibri"/>
              </a:rPr>
              <a:t>A low-cost Smart Refrigerator</a:t>
            </a:r>
            <a:r>
              <a:rPr lang="en-US" sz="1600">
                <a:solidFill>
                  <a:srgbClr val="08504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</a:t>
            </a:r>
            <a:r>
              <a:rPr lang="en-US" altLang="en-US" sz="1600">
                <a:latin typeface="Calibri"/>
                <a:ea typeface="Calibri"/>
                <a:cs typeface="Calibri"/>
              </a:rPr>
              <a:t>ystem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</a:rPr>
              <a:t> using IoT sensors and AI </a:t>
            </a:r>
            <a:endParaRPr lang="en-US" altLang="en-US" sz="1600" b="0" i="0" u="none" strike="noStrike" cap="none" normalizeH="0" baseline="0">
              <a:ln>
                <a:noFill/>
              </a:ln>
              <a:effectLst/>
              <a:ea typeface="Calibri"/>
              <a:cs typeface="Calibri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Monitors food condition in real-time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Provides alerts before spoilage </a:t>
            </a:r>
          </a:p>
        </p:txBody>
      </p:sp>
      <p:sp>
        <p:nvSpPr>
          <p:cNvPr id="15" name="Text 3"/>
          <p:cNvSpPr/>
          <p:nvPr/>
        </p:nvSpPr>
        <p:spPr>
          <a:xfrm>
            <a:off x="1188720" y="229111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/>
          </a:p>
        </p:txBody>
      </p:sp>
      <p:sp>
        <p:nvSpPr>
          <p:cNvPr id="19" name="Shape 4"/>
          <p:cNvSpPr/>
          <p:nvPr/>
        </p:nvSpPr>
        <p:spPr>
          <a:xfrm>
            <a:off x="146303" y="844233"/>
            <a:ext cx="2743200" cy="1280160"/>
          </a:xfrm>
          <a:prstGeom prst="rect">
            <a:avLst/>
          </a:prstGeom>
          <a:solidFill>
            <a:srgbClr val="FCEBEB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5"/>
          <p:cNvSpPr/>
          <p:nvPr/>
        </p:nvSpPr>
        <p:spPr>
          <a:xfrm>
            <a:off x="146303" y="844233"/>
            <a:ext cx="64008" cy="12801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6"/>
          <p:cNvSpPr/>
          <p:nvPr/>
        </p:nvSpPr>
        <p:spPr>
          <a:xfrm>
            <a:off x="310895" y="917385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3000"/>
          </a:p>
        </p:txBody>
      </p:sp>
      <p:sp>
        <p:nvSpPr>
          <p:cNvPr id="22" name="Text 7"/>
          <p:cNvSpPr/>
          <p:nvPr/>
        </p:nvSpPr>
        <p:spPr>
          <a:xfrm>
            <a:off x="310895" y="1411161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food lost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consumers</a:t>
            </a:r>
            <a:endParaRPr lang="en-US" sz="1100"/>
          </a:p>
        </p:txBody>
      </p:sp>
      <p:sp>
        <p:nvSpPr>
          <p:cNvPr id="23" name="Shape 8"/>
          <p:cNvSpPr/>
          <p:nvPr/>
        </p:nvSpPr>
        <p:spPr>
          <a:xfrm>
            <a:off x="3090671" y="844233"/>
            <a:ext cx="2743200" cy="1280160"/>
          </a:xfrm>
          <a:prstGeom prst="rect">
            <a:avLst/>
          </a:prstGeom>
          <a:solidFill>
            <a:srgbClr val="FAEEDA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9"/>
          <p:cNvSpPr/>
          <p:nvPr/>
        </p:nvSpPr>
        <p:spPr>
          <a:xfrm>
            <a:off x="3090671" y="844233"/>
            <a:ext cx="64008" cy="12801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0"/>
          <p:cNvSpPr/>
          <p:nvPr/>
        </p:nvSpPr>
        <p:spPr>
          <a:xfrm>
            <a:off x="3255263" y="917385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3000"/>
          </a:p>
        </p:txBody>
      </p:sp>
      <p:sp>
        <p:nvSpPr>
          <p:cNvPr id="26" name="Text 11"/>
          <p:cNvSpPr/>
          <p:nvPr/>
        </p:nvSpPr>
        <p:spPr>
          <a:xfrm>
            <a:off x="3255263" y="1411161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households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100"/>
          </a:p>
        </p:txBody>
      </p:sp>
      <p:sp>
        <p:nvSpPr>
          <p:cNvPr id="27" name="Shape 12"/>
          <p:cNvSpPr/>
          <p:nvPr/>
        </p:nvSpPr>
        <p:spPr>
          <a:xfrm>
            <a:off x="6035039" y="844233"/>
            <a:ext cx="2743200" cy="1280160"/>
          </a:xfrm>
          <a:prstGeom prst="rect">
            <a:avLst/>
          </a:prstGeom>
          <a:solidFill>
            <a:srgbClr val="E6F1FB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13"/>
          <p:cNvSpPr/>
          <p:nvPr/>
        </p:nvSpPr>
        <p:spPr>
          <a:xfrm>
            <a:off x="6035039" y="844233"/>
            <a:ext cx="64008" cy="12801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4"/>
          <p:cNvSpPr/>
          <p:nvPr/>
        </p:nvSpPr>
        <p:spPr>
          <a:xfrm>
            <a:off x="6199631" y="917385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3000"/>
          </a:p>
        </p:txBody>
      </p:sp>
      <p:sp>
        <p:nvSpPr>
          <p:cNvPr id="30" name="Text 15"/>
          <p:cNvSpPr/>
          <p:nvPr/>
        </p:nvSpPr>
        <p:spPr>
          <a:xfrm>
            <a:off x="6199631" y="1411161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food produced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wasted globally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143000"/>
          </a:xfrm>
          <a:prstGeom prst="rect">
            <a:avLst/>
          </a:prstGeom>
          <a:solidFill>
            <a:srgbClr val="4C94DF">
              <a:alpha val="0"/>
            </a:srgbClr>
          </a:solidFill>
          <a:ln>
            <a:solidFill>
              <a:srgbClr val="4C94D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502920" cy="1143000"/>
          </a:xfrm>
          <a:prstGeom prst="rect">
            <a:avLst/>
          </a:prstGeom>
          <a:solidFill>
            <a:srgbClr val="4C94DF"/>
          </a:solidFill>
          <a:ln w="12700">
            <a:solidFill>
              <a:srgbClr val="4C94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914400" y="9326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4C9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300">
              <a:solidFill>
                <a:srgbClr val="4C94D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25272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/>
              <a:t>Monitor temperature, humidity, and food quantity inside the fridge in real-time </a:t>
            </a:r>
            <a:r>
              <a:rPr lang="en-US" sz="1000" b="1">
                <a:latin typeface="Calibri" pitchFamily="34" charset="0"/>
                <a:ea typeface="Calibri" pitchFamily="34" charset="-122"/>
                <a:cs typeface="Calibri" pitchFamily="34" charset="-120"/>
              </a:rPr>
              <a:t>from ESP32 hardware to a web dashboard via REST API.</a:t>
            </a:r>
            <a:endParaRPr lang="en-US" sz="1000" b="1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60520" cy="1143000"/>
          </a:xfrm>
          <a:prstGeom prst="rect">
            <a:avLst/>
          </a:prstGeom>
          <a:solidFill>
            <a:srgbClr val="9B59B6">
              <a:alpha val="0"/>
            </a:srgbClr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502920" cy="11430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5349240" y="9326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Spoilage Alerts</a:t>
            </a:r>
            <a:endParaRPr lang="en-US" sz="1300">
              <a:solidFill>
                <a:srgbClr val="9B59B6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49240" y="125272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Gemini AI </a:t>
            </a:r>
            <a:r>
              <a:rPr lang="en-US" sz="1000" b="1"/>
              <a:t>Use AI to predict when food may spoil and alert the user early</a:t>
            </a:r>
            <a:r>
              <a:rPr lang="en-US" sz="1000" b="1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b="1"/>
          </a:p>
        </p:txBody>
      </p:sp>
      <p:sp>
        <p:nvSpPr>
          <p:cNvPr id="14" name="Shape 12"/>
          <p:cNvSpPr/>
          <p:nvPr/>
        </p:nvSpPr>
        <p:spPr>
          <a:xfrm>
            <a:off x="320040" y="2148840"/>
            <a:ext cx="4160520" cy="1143000"/>
          </a:xfrm>
          <a:prstGeom prst="rect">
            <a:avLst/>
          </a:prstGeom>
          <a:solidFill>
            <a:srgbClr val="F4B243">
              <a:alpha val="0"/>
            </a:srgbClr>
          </a:solidFill>
          <a:ln>
            <a:solidFill>
              <a:srgbClr val="F4B24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148840"/>
            <a:ext cx="502920" cy="1143000"/>
          </a:xfrm>
          <a:prstGeom prst="rect">
            <a:avLst/>
          </a:prstGeom>
          <a:solidFill>
            <a:srgbClr val="F4B243"/>
          </a:solidFill>
          <a:ln w="12700">
            <a:solidFill>
              <a:srgbClr val="F4B2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2423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914400" y="22585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4B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1300">
              <a:solidFill>
                <a:srgbClr val="F4B24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257860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latin typeface="Calibri"/>
                <a:ea typeface="Calibri"/>
                <a:cs typeface="Calibri"/>
              </a:rPr>
              <a:t>Deliver a responsive MERN-stack dashboard with JWT authentication, CRUD food inventory management, and live chart visualizations.</a:t>
            </a:r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160520" cy="1143000"/>
          </a:xfrm>
          <a:prstGeom prst="rect">
            <a:avLst/>
          </a:prstGeom>
          <a:solidFill>
            <a:srgbClr val="24CCA8">
              <a:alpha val="0"/>
            </a:srgbClr>
          </a:solidFill>
          <a:ln w="12700">
            <a:solidFill>
              <a:srgbClr val="24CCA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502920" cy="1143000"/>
          </a:xfrm>
          <a:prstGeom prst="rect">
            <a:avLst/>
          </a:prstGeom>
          <a:solidFill>
            <a:srgbClr val="24CCA8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2423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5349240" y="22585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4C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300">
              <a:solidFill>
                <a:srgbClr val="24CCA8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49240" y="257860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/>
              <a:t>Connect sensors and ESP32 to send data to the cloud system.</a:t>
            </a:r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4160520" cy="1143000"/>
          </a:xfrm>
          <a:prstGeom prst="rect">
            <a:avLst/>
          </a:prstGeom>
          <a:solidFill>
            <a:srgbClr val="E74C3C">
              <a:alpha val="0"/>
            </a:srgbClr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" y="3474720"/>
            <a:ext cx="502920" cy="1143000"/>
          </a:xfrm>
          <a:prstGeom prst="rect">
            <a:avLst/>
          </a:prstGeom>
          <a:solidFill>
            <a:srgbClr val="E74C3C">
              <a:alpha val="79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3749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584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&amp; Accessible Design</a:t>
            </a:r>
            <a:endParaRPr lang="en-US" sz="1300">
              <a:solidFill>
                <a:srgbClr val="E74C3C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390448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/>
              <a:t>Design an affordable system that can work with a normal fridge.</a:t>
            </a:r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160520" cy="1143000"/>
          </a:xfrm>
          <a:prstGeom prst="rect">
            <a:avLst/>
          </a:prstGeom>
          <a:solidFill>
            <a:srgbClr val="0070C0">
              <a:alpha val="0"/>
            </a:srgbClr>
          </a:solidFill>
          <a:ln w="12700">
            <a:solidFill>
              <a:srgbClr val="0070C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502920" cy="1143000"/>
          </a:xfrm>
          <a:prstGeom prst="rect">
            <a:avLst/>
          </a:prstGeom>
          <a:solidFill>
            <a:srgbClr val="0070C0">
              <a:alpha val="60000"/>
            </a:srgbClr>
          </a:solidFill>
          <a:ln w="12700">
            <a:solidFill>
              <a:srgbClr val="4C94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3749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5349240" y="35844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300">
              <a:solidFill>
                <a:srgbClr val="0070C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49240" y="390448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/>
              <a:t>Create a system that can support multiple users and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965960" cy="3931920"/>
          </a:xfrm>
          <a:prstGeom prst="rect">
            <a:avLst/>
          </a:prstGeom>
          <a:solidFill>
            <a:srgbClr val="F0FAF7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9659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5820" y="1005840"/>
            <a:ext cx="914400" cy="914400"/>
          </a:xfrm>
          <a:prstGeom prst="ellipse">
            <a:avLst/>
          </a:prstGeom>
          <a:solidFill>
            <a:srgbClr val="4C94D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1556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(Households)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429768" y="274320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2468880" y="777240"/>
            <a:ext cx="1965960" cy="3931920"/>
          </a:xfrm>
          <a:prstGeom prst="rect">
            <a:avLst/>
          </a:prstGeom>
          <a:solidFill>
            <a:srgbClr val="F0FAF7"/>
          </a:solidFill>
          <a:ln w="12700">
            <a:solidFill>
              <a:srgbClr val="00C49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468880" y="777240"/>
            <a:ext cx="1965960" cy="64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994660" y="1005840"/>
            <a:ext cx="914400" cy="914400"/>
          </a:xfrm>
          <a:prstGeom prst="ellipse">
            <a:avLst/>
          </a:prstGeom>
          <a:solidFill>
            <a:srgbClr val="00C49A">
              <a:alpha val="85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115568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00"/>
          </a:p>
        </p:txBody>
      </p:sp>
      <p:sp>
        <p:nvSpPr>
          <p:cNvPr id="15" name="Text 11"/>
          <p:cNvSpPr/>
          <p:nvPr/>
        </p:nvSpPr>
        <p:spPr>
          <a:xfrm>
            <a:off x="2578608" y="274320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/>
          </a:p>
        </p:txBody>
      </p:sp>
      <p:sp>
        <p:nvSpPr>
          <p:cNvPr id="16" name="Shape 12"/>
          <p:cNvSpPr/>
          <p:nvPr/>
        </p:nvSpPr>
        <p:spPr>
          <a:xfrm>
            <a:off x="4617720" y="777240"/>
            <a:ext cx="1965960" cy="3931920"/>
          </a:xfrm>
          <a:prstGeom prst="rect">
            <a:avLst/>
          </a:prstGeom>
          <a:solidFill>
            <a:srgbClr val="F0FAF7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617720" y="777240"/>
            <a:ext cx="19659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143500" y="1005840"/>
            <a:ext cx="914400" cy="914400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1143000"/>
            <a:ext cx="640080" cy="640080"/>
          </a:xfrm>
          <a:prstGeom prst="rect">
            <a:avLst/>
          </a:prstGeom>
          <a:solidFill>
            <a:srgbClr val="F4B243"/>
          </a:solidFill>
        </p:spPr>
      </p:pic>
      <p:sp>
        <p:nvSpPr>
          <p:cNvPr id="20" name="Text 15"/>
          <p:cNvSpPr/>
          <p:nvPr/>
        </p:nvSpPr>
        <p:spPr>
          <a:xfrm>
            <a:off x="461772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Hardware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1200"/>
          </a:p>
        </p:txBody>
      </p:sp>
      <p:sp>
        <p:nvSpPr>
          <p:cNvPr id="21" name="Text 16"/>
          <p:cNvSpPr/>
          <p:nvPr/>
        </p:nvSpPr>
        <p:spPr>
          <a:xfrm>
            <a:off x="4727448" y="274320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/>
          </a:p>
        </p:txBody>
      </p:sp>
      <p:sp>
        <p:nvSpPr>
          <p:cNvPr id="22" name="Shape 17"/>
          <p:cNvSpPr/>
          <p:nvPr/>
        </p:nvSpPr>
        <p:spPr>
          <a:xfrm>
            <a:off x="6766560" y="777240"/>
            <a:ext cx="1965960" cy="3931920"/>
          </a:xfrm>
          <a:prstGeom prst="rect">
            <a:avLst/>
          </a:prstGeom>
          <a:solidFill>
            <a:srgbClr val="F0FAF7"/>
          </a:solidFill>
          <a:ln w="12700">
            <a:solidFill>
              <a:srgbClr val="9B59B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766560" y="777240"/>
            <a:ext cx="196596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7292340" y="1005840"/>
            <a:ext cx="914400" cy="914400"/>
          </a:xfrm>
          <a:prstGeom prst="ellipse">
            <a:avLst/>
          </a:prstGeom>
          <a:solidFill>
            <a:srgbClr val="9B59B6">
              <a:alpha val="85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115568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20116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200"/>
          </a:p>
        </p:txBody>
      </p:sp>
      <p:sp>
        <p:nvSpPr>
          <p:cNvPr id="27" name="Text 21"/>
          <p:cNvSpPr/>
          <p:nvPr/>
        </p:nvSpPr>
        <p:spPr>
          <a:xfrm>
            <a:off x="6876288" y="274320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/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F80DF37F-2057-5F26-29AD-F256C66F9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336" y="2703415"/>
            <a:ext cx="1965960" cy="1584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check food freshness easily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get alerts before food spoils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reduce food waste 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02BC0CBA-6E78-8DB2-D3A8-CE598A513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0592" y="2703414"/>
            <a:ext cx="2048257" cy="1584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users and system settings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system performance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the backend 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54FDF9F8-5B7E-2B2B-331E-D1CD214E8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77" y="2703415"/>
            <a:ext cx="2057399" cy="1584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up sensors and ESP32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data is collected properly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hardware to the system </a:t>
            </a: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7A2290B5-C759-A235-EEE0-7198DC557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713" y="2957331"/>
            <a:ext cx="1865376" cy="133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sensor data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spoilage predictions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the system smarter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D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14300"/>
            <a:ext cx="8229600" cy="502920"/>
          </a:xfrm>
          <a:prstGeom prst="rect">
            <a:avLst/>
          </a:prstGeom>
          <a:solidFill>
            <a:srgbClr val="0D1F2D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Languages, Tools &amp; Software</a:t>
            </a:r>
            <a:endParaRPr lang="en-US" sz="2200">
              <a:solidFill>
                <a:schemeClr val="bg1"/>
              </a:solidFill>
            </a:endParaRP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EF1422D4-6FFD-4FAF-3BF9-47C9391B143E}"/>
              </a:ext>
            </a:extLst>
          </p:cNvPr>
          <p:cNvSpPr/>
          <p:nvPr/>
        </p:nvSpPr>
        <p:spPr>
          <a:xfrm>
            <a:off x="320040" y="11430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19D819CA-9E03-ED3F-DD1C-D86696B1B0C3}"/>
              </a:ext>
            </a:extLst>
          </p:cNvPr>
          <p:cNvSpPr/>
          <p:nvPr/>
        </p:nvSpPr>
        <p:spPr>
          <a:xfrm>
            <a:off x="320040" y="1143000"/>
            <a:ext cx="274320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09A5B46B-C74E-BBC9-FA5B-F50686018775}"/>
              </a:ext>
            </a:extLst>
          </p:cNvPr>
          <p:cNvSpPr/>
          <p:nvPr/>
        </p:nvSpPr>
        <p:spPr>
          <a:xfrm>
            <a:off x="429768" y="119786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(IoT Layer)</a:t>
            </a:r>
            <a:endParaRPr lang="en-US" sz="110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8183C366-5485-CF79-C9CC-9344A3339979}"/>
              </a:ext>
            </a:extLst>
          </p:cNvPr>
          <p:cNvSpPr/>
          <p:nvPr/>
        </p:nvSpPr>
        <p:spPr>
          <a:xfrm>
            <a:off x="454914" y="146761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MCU · Wi-Fi Dual-core
DHT22 · Temp &amp; Humidity
HX711 + Load Cell · Weight
HC-SR501 · PIR Motion
HC-SR04 · Ultrasonic x2</a:t>
            </a:r>
            <a:endParaRPr lang="en-US" sz="1000" dirty="0"/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440CB2E9-BB12-FC55-3A97-7600E34835AD}"/>
              </a:ext>
            </a:extLst>
          </p:cNvPr>
          <p:cNvSpPr/>
          <p:nvPr/>
        </p:nvSpPr>
        <p:spPr>
          <a:xfrm>
            <a:off x="429768" y="1618488"/>
            <a:ext cx="50292" cy="502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59D3389D-1F3E-5829-0336-3271F508B970}"/>
              </a:ext>
            </a:extLst>
          </p:cNvPr>
          <p:cNvSpPr/>
          <p:nvPr/>
        </p:nvSpPr>
        <p:spPr>
          <a:xfrm>
            <a:off x="429768" y="1851660"/>
            <a:ext cx="50292" cy="502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D27A52F3-7B78-02CD-F1CF-051691D86617}"/>
              </a:ext>
            </a:extLst>
          </p:cNvPr>
          <p:cNvSpPr/>
          <p:nvPr/>
        </p:nvSpPr>
        <p:spPr>
          <a:xfrm>
            <a:off x="429768" y="2084832"/>
            <a:ext cx="50292" cy="502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BBA037A8-1CA3-9DED-D812-DCC960DC7835}"/>
              </a:ext>
            </a:extLst>
          </p:cNvPr>
          <p:cNvSpPr/>
          <p:nvPr/>
        </p:nvSpPr>
        <p:spPr>
          <a:xfrm>
            <a:off x="429768" y="2318004"/>
            <a:ext cx="50292" cy="502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25503B2D-04A3-E579-98EA-9815240E94A9}"/>
              </a:ext>
            </a:extLst>
          </p:cNvPr>
          <p:cNvSpPr/>
          <p:nvPr/>
        </p:nvSpPr>
        <p:spPr>
          <a:xfrm>
            <a:off x="429768" y="2551176"/>
            <a:ext cx="50292" cy="502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13">
            <a:extLst>
              <a:ext uri="{FF2B5EF4-FFF2-40B4-BE49-F238E27FC236}">
                <a16:creationId xmlns:a16="http://schemas.microsoft.com/office/drawing/2014/main" id="{410FDFE8-9251-E431-CA85-91F8A2DB102C}"/>
              </a:ext>
            </a:extLst>
          </p:cNvPr>
          <p:cNvSpPr/>
          <p:nvPr/>
        </p:nvSpPr>
        <p:spPr>
          <a:xfrm>
            <a:off x="3264408" y="11430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124925F2-48E5-DA2B-CB3A-E4BD57B33ACC}"/>
              </a:ext>
            </a:extLst>
          </p:cNvPr>
          <p:cNvSpPr/>
          <p:nvPr/>
        </p:nvSpPr>
        <p:spPr>
          <a:xfrm>
            <a:off x="3264408" y="1143000"/>
            <a:ext cx="2743200" cy="3474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C1DE937D-2E91-394A-59BC-BFD360C77E8A}"/>
              </a:ext>
            </a:extLst>
          </p:cNvPr>
          <p:cNvSpPr/>
          <p:nvPr/>
        </p:nvSpPr>
        <p:spPr>
          <a:xfrm>
            <a:off x="3374136" y="119786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3E3FB7AB-2D31-0A10-A7E2-1DDBB4BDED02}"/>
              </a:ext>
            </a:extLst>
          </p:cNvPr>
          <p:cNvSpPr/>
          <p:nvPr/>
        </p:nvSpPr>
        <p:spPr>
          <a:xfrm>
            <a:off x="3396996" y="1467612"/>
            <a:ext cx="246888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MQTT Protocol
EMQX Broker (primary)
</a:t>
            </a:r>
            <a:r>
              <a:rPr lang="en-US" sz="1000" dirty="0" err="1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HiveMQ</a:t>
            </a:r>
            <a:r>
              <a:rPr lang="en-US" sz="1000" dirty="0">
                <a:solidFill>
                  <a:srgbClr val="6B6B65"/>
                </a:solidFill>
                <a:latin typeface="Calibri"/>
                <a:ea typeface="Calibri"/>
                <a:cs typeface="Calibri"/>
              </a:rPr>
              <a:t> (fallback)
Wi-Fi 802.11 b/g/n
REST API (HTTP)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46AA6AEC-A075-A5AD-BE5F-F2673A0858FF}"/>
              </a:ext>
            </a:extLst>
          </p:cNvPr>
          <p:cNvSpPr/>
          <p:nvPr/>
        </p:nvSpPr>
        <p:spPr>
          <a:xfrm>
            <a:off x="3374136" y="1618488"/>
            <a:ext cx="50292" cy="5029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3DBBDFD2-6C6E-71F8-5C0E-6D2BCE6613D7}"/>
              </a:ext>
            </a:extLst>
          </p:cNvPr>
          <p:cNvSpPr/>
          <p:nvPr/>
        </p:nvSpPr>
        <p:spPr>
          <a:xfrm>
            <a:off x="3374136" y="1851660"/>
            <a:ext cx="50292" cy="5029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19">
            <a:extLst>
              <a:ext uri="{FF2B5EF4-FFF2-40B4-BE49-F238E27FC236}">
                <a16:creationId xmlns:a16="http://schemas.microsoft.com/office/drawing/2014/main" id="{9BF9F70B-0615-4A57-1C39-28A440E8D3A3}"/>
              </a:ext>
            </a:extLst>
          </p:cNvPr>
          <p:cNvSpPr/>
          <p:nvPr/>
        </p:nvSpPr>
        <p:spPr>
          <a:xfrm>
            <a:off x="3374136" y="2084832"/>
            <a:ext cx="50292" cy="5029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C2E16B55-DA76-3C64-38DC-9F39311B83D5}"/>
              </a:ext>
            </a:extLst>
          </p:cNvPr>
          <p:cNvSpPr/>
          <p:nvPr/>
        </p:nvSpPr>
        <p:spPr>
          <a:xfrm>
            <a:off x="3374136" y="2318004"/>
            <a:ext cx="50292" cy="5029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21">
            <a:extLst>
              <a:ext uri="{FF2B5EF4-FFF2-40B4-BE49-F238E27FC236}">
                <a16:creationId xmlns:a16="http://schemas.microsoft.com/office/drawing/2014/main" id="{F7B5DBF8-0CD7-3CB3-4E39-B1C49673BD33}"/>
              </a:ext>
            </a:extLst>
          </p:cNvPr>
          <p:cNvSpPr/>
          <p:nvPr/>
        </p:nvSpPr>
        <p:spPr>
          <a:xfrm>
            <a:off x="3374136" y="2551176"/>
            <a:ext cx="50292" cy="5029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25AD2C62-8316-EA64-8516-C5FE2AEA1F83}"/>
              </a:ext>
            </a:extLst>
          </p:cNvPr>
          <p:cNvSpPr/>
          <p:nvPr/>
        </p:nvSpPr>
        <p:spPr>
          <a:xfrm>
            <a:off x="6208776" y="11430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1E4175B8-360D-4F89-AD97-07D39F9CAD1D}"/>
              </a:ext>
            </a:extLst>
          </p:cNvPr>
          <p:cNvSpPr/>
          <p:nvPr/>
        </p:nvSpPr>
        <p:spPr>
          <a:xfrm>
            <a:off x="6208776" y="1143000"/>
            <a:ext cx="2743200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ED40F227-934F-D0BE-E147-D6ECB3335662}"/>
              </a:ext>
            </a:extLst>
          </p:cNvPr>
          <p:cNvSpPr/>
          <p:nvPr/>
        </p:nvSpPr>
        <p:spPr>
          <a:xfrm>
            <a:off x="6318504" y="119786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/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F24362D7-9071-2D5F-B1B1-C97C2351ACE8}"/>
              </a:ext>
            </a:extLst>
          </p:cNvPr>
          <p:cNvSpPr/>
          <p:nvPr/>
        </p:nvSpPr>
        <p:spPr>
          <a:xfrm>
            <a:off x="6364224" y="146761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
MongoDB Atlas (NoSQL)
Mongoose ODM
JWT Authentication
Node-RED IoT Platform</a:t>
            </a:r>
            <a:endParaRPr lang="en-US" sz="1000" dirty="0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031CD7CE-A781-15CF-A75A-E37DD1D77CD7}"/>
              </a:ext>
            </a:extLst>
          </p:cNvPr>
          <p:cNvSpPr/>
          <p:nvPr/>
        </p:nvSpPr>
        <p:spPr>
          <a:xfrm>
            <a:off x="6318504" y="1618488"/>
            <a:ext cx="50292" cy="5029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FFB55EB8-3652-D660-C195-2207272589CB}"/>
              </a:ext>
            </a:extLst>
          </p:cNvPr>
          <p:cNvSpPr/>
          <p:nvPr/>
        </p:nvSpPr>
        <p:spPr>
          <a:xfrm>
            <a:off x="6318504" y="1851660"/>
            <a:ext cx="50292" cy="5029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9DDD6533-C7DF-C7AC-0D05-4B5987D8846F}"/>
              </a:ext>
            </a:extLst>
          </p:cNvPr>
          <p:cNvSpPr/>
          <p:nvPr/>
        </p:nvSpPr>
        <p:spPr>
          <a:xfrm>
            <a:off x="6318504" y="2084832"/>
            <a:ext cx="50292" cy="5029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29">
            <a:extLst>
              <a:ext uri="{FF2B5EF4-FFF2-40B4-BE49-F238E27FC236}">
                <a16:creationId xmlns:a16="http://schemas.microsoft.com/office/drawing/2014/main" id="{DD5BC011-2E52-808D-AB6B-117C88A0E58A}"/>
              </a:ext>
            </a:extLst>
          </p:cNvPr>
          <p:cNvSpPr/>
          <p:nvPr/>
        </p:nvSpPr>
        <p:spPr>
          <a:xfrm>
            <a:off x="6318504" y="2318004"/>
            <a:ext cx="50292" cy="5029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10FAD834-DC55-4776-25B0-5976346491E8}"/>
              </a:ext>
            </a:extLst>
          </p:cNvPr>
          <p:cNvSpPr/>
          <p:nvPr/>
        </p:nvSpPr>
        <p:spPr>
          <a:xfrm>
            <a:off x="6318504" y="2551176"/>
            <a:ext cx="50292" cy="5029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31">
            <a:extLst>
              <a:ext uri="{FF2B5EF4-FFF2-40B4-BE49-F238E27FC236}">
                <a16:creationId xmlns:a16="http://schemas.microsoft.com/office/drawing/2014/main" id="{9EF571FF-C0E5-6105-0EB0-CC8C8626ABD2}"/>
              </a:ext>
            </a:extLst>
          </p:cNvPr>
          <p:cNvSpPr/>
          <p:nvPr/>
        </p:nvSpPr>
        <p:spPr>
          <a:xfrm>
            <a:off x="320040" y="30632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32">
            <a:extLst>
              <a:ext uri="{FF2B5EF4-FFF2-40B4-BE49-F238E27FC236}">
                <a16:creationId xmlns:a16="http://schemas.microsoft.com/office/drawing/2014/main" id="{8B0AA52E-8B8F-D9DD-918A-B70E580C98E6}"/>
              </a:ext>
            </a:extLst>
          </p:cNvPr>
          <p:cNvSpPr/>
          <p:nvPr/>
        </p:nvSpPr>
        <p:spPr>
          <a:xfrm>
            <a:off x="320040" y="3063240"/>
            <a:ext cx="2743200" cy="34747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198C720F-EF88-1E37-1DB3-27D902F962B5}"/>
              </a:ext>
            </a:extLst>
          </p:cNvPr>
          <p:cNvSpPr/>
          <p:nvPr/>
        </p:nvSpPr>
        <p:spPr>
          <a:xfrm>
            <a:off x="429768" y="311810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/>
          </a:p>
        </p:txBody>
      </p:sp>
      <p:sp>
        <p:nvSpPr>
          <p:cNvPr id="70" name="Text 34">
            <a:extLst>
              <a:ext uri="{FF2B5EF4-FFF2-40B4-BE49-F238E27FC236}">
                <a16:creationId xmlns:a16="http://schemas.microsoft.com/office/drawing/2014/main" id="{A16A1602-255B-CA53-568E-9AFB424ABB31}"/>
              </a:ext>
            </a:extLst>
          </p:cNvPr>
          <p:cNvSpPr/>
          <p:nvPr/>
        </p:nvSpPr>
        <p:spPr>
          <a:xfrm>
            <a:off x="480060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
Chart.js + react-chartjs-2
React Router v6
CSS Modules
Axios HTTP client</a:t>
            </a:r>
            <a:endParaRPr lang="en-US" sz="1000" dirty="0"/>
          </a:p>
        </p:txBody>
      </p:sp>
      <p:sp>
        <p:nvSpPr>
          <p:cNvPr id="71" name="Shape 35">
            <a:extLst>
              <a:ext uri="{FF2B5EF4-FFF2-40B4-BE49-F238E27FC236}">
                <a16:creationId xmlns:a16="http://schemas.microsoft.com/office/drawing/2014/main" id="{F5D30CF4-86D9-7EDA-B44E-9C56E1E118B4}"/>
              </a:ext>
            </a:extLst>
          </p:cNvPr>
          <p:cNvSpPr/>
          <p:nvPr/>
        </p:nvSpPr>
        <p:spPr>
          <a:xfrm>
            <a:off x="429768" y="3538728"/>
            <a:ext cx="50292" cy="50292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FFBC6EE9-8995-7FC7-A9F5-6222D1BED2A9}"/>
              </a:ext>
            </a:extLst>
          </p:cNvPr>
          <p:cNvSpPr/>
          <p:nvPr/>
        </p:nvSpPr>
        <p:spPr>
          <a:xfrm>
            <a:off x="429768" y="3771900"/>
            <a:ext cx="50292" cy="50292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37">
            <a:extLst>
              <a:ext uri="{FF2B5EF4-FFF2-40B4-BE49-F238E27FC236}">
                <a16:creationId xmlns:a16="http://schemas.microsoft.com/office/drawing/2014/main" id="{708CEB3D-CDF2-83BC-64EB-56630DD08A48}"/>
              </a:ext>
            </a:extLst>
          </p:cNvPr>
          <p:cNvSpPr/>
          <p:nvPr/>
        </p:nvSpPr>
        <p:spPr>
          <a:xfrm>
            <a:off x="429768" y="4005072"/>
            <a:ext cx="50292" cy="50292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38">
            <a:extLst>
              <a:ext uri="{FF2B5EF4-FFF2-40B4-BE49-F238E27FC236}">
                <a16:creationId xmlns:a16="http://schemas.microsoft.com/office/drawing/2014/main" id="{F79907BD-5E9B-ACE8-0265-BC283583FD8A}"/>
              </a:ext>
            </a:extLst>
          </p:cNvPr>
          <p:cNvSpPr/>
          <p:nvPr/>
        </p:nvSpPr>
        <p:spPr>
          <a:xfrm>
            <a:off x="429768" y="4238244"/>
            <a:ext cx="50292" cy="50292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39">
            <a:extLst>
              <a:ext uri="{FF2B5EF4-FFF2-40B4-BE49-F238E27FC236}">
                <a16:creationId xmlns:a16="http://schemas.microsoft.com/office/drawing/2014/main" id="{38682026-30AA-1128-C8F2-22602F41BD77}"/>
              </a:ext>
            </a:extLst>
          </p:cNvPr>
          <p:cNvSpPr/>
          <p:nvPr/>
        </p:nvSpPr>
        <p:spPr>
          <a:xfrm>
            <a:off x="429768" y="4471416"/>
            <a:ext cx="50292" cy="50292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40">
            <a:extLst>
              <a:ext uri="{FF2B5EF4-FFF2-40B4-BE49-F238E27FC236}">
                <a16:creationId xmlns:a16="http://schemas.microsoft.com/office/drawing/2014/main" id="{537C9127-4D36-9FEA-5463-E65FDCFF4AF1}"/>
              </a:ext>
            </a:extLst>
          </p:cNvPr>
          <p:cNvSpPr/>
          <p:nvPr/>
        </p:nvSpPr>
        <p:spPr>
          <a:xfrm>
            <a:off x="3264408" y="30632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7" name="Shape 41">
            <a:extLst>
              <a:ext uri="{FF2B5EF4-FFF2-40B4-BE49-F238E27FC236}">
                <a16:creationId xmlns:a16="http://schemas.microsoft.com/office/drawing/2014/main" id="{1B4A846A-4AC0-F8A2-C424-9B3313EE35DA}"/>
              </a:ext>
            </a:extLst>
          </p:cNvPr>
          <p:cNvSpPr/>
          <p:nvPr/>
        </p:nvSpPr>
        <p:spPr>
          <a:xfrm>
            <a:off x="3264408" y="3063240"/>
            <a:ext cx="2743200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42">
            <a:extLst>
              <a:ext uri="{FF2B5EF4-FFF2-40B4-BE49-F238E27FC236}">
                <a16:creationId xmlns:a16="http://schemas.microsoft.com/office/drawing/2014/main" id="{85A262E1-AC29-D8D6-6371-6501282D7240}"/>
              </a:ext>
            </a:extLst>
          </p:cNvPr>
          <p:cNvSpPr/>
          <p:nvPr/>
        </p:nvSpPr>
        <p:spPr>
          <a:xfrm>
            <a:off x="3374136" y="311810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Analytics</a:t>
            </a:r>
            <a:endParaRPr lang="en-US" sz="1100"/>
          </a:p>
        </p:txBody>
      </p:sp>
      <p:sp>
        <p:nvSpPr>
          <p:cNvPr id="79" name="Text 43">
            <a:extLst>
              <a:ext uri="{FF2B5EF4-FFF2-40B4-BE49-F238E27FC236}">
                <a16:creationId xmlns:a16="http://schemas.microsoft.com/office/drawing/2014/main" id="{6569E7F1-0DEB-E08A-A95D-1616EC10866C}"/>
              </a:ext>
            </a:extLst>
          </p:cNvPr>
          <p:cNvSpPr/>
          <p:nvPr/>
        </p:nvSpPr>
        <p:spPr>
          <a:xfrm>
            <a:off x="3396996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API
IoT Deployment Level 4
Predictive Spoilage Model
Real-time Analytics
Explainable AI (XAI)</a:t>
            </a:r>
            <a:endParaRPr lang="en-US" sz="1000" dirty="0"/>
          </a:p>
        </p:txBody>
      </p:sp>
      <p:sp>
        <p:nvSpPr>
          <p:cNvPr id="80" name="Shape 44">
            <a:extLst>
              <a:ext uri="{FF2B5EF4-FFF2-40B4-BE49-F238E27FC236}">
                <a16:creationId xmlns:a16="http://schemas.microsoft.com/office/drawing/2014/main" id="{D852049A-B7AD-5C23-466A-A48DFDF912BC}"/>
              </a:ext>
            </a:extLst>
          </p:cNvPr>
          <p:cNvSpPr/>
          <p:nvPr/>
        </p:nvSpPr>
        <p:spPr>
          <a:xfrm>
            <a:off x="3374136" y="3538728"/>
            <a:ext cx="50292" cy="5029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45">
            <a:extLst>
              <a:ext uri="{FF2B5EF4-FFF2-40B4-BE49-F238E27FC236}">
                <a16:creationId xmlns:a16="http://schemas.microsoft.com/office/drawing/2014/main" id="{2EFEDFD8-1C76-7D59-E7B7-19F04B8F2E83}"/>
              </a:ext>
            </a:extLst>
          </p:cNvPr>
          <p:cNvSpPr/>
          <p:nvPr/>
        </p:nvSpPr>
        <p:spPr>
          <a:xfrm>
            <a:off x="3374136" y="3771900"/>
            <a:ext cx="50292" cy="5029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46">
            <a:extLst>
              <a:ext uri="{FF2B5EF4-FFF2-40B4-BE49-F238E27FC236}">
                <a16:creationId xmlns:a16="http://schemas.microsoft.com/office/drawing/2014/main" id="{203DBD2F-D572-D116-4810-BEC6DE36004F}"/>
              </a:ext>
            </a:extLst>
          </p:cNvPr>
          <p:cNvSpPr/>
          <p:nvPr/>
        </p:nvSpPr>
        <p:spPr>
          <a:xfrm>
            <a:off x="3374136" y="4005072"/>
            <a:ext cx="50292" cy="5029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47">
            <a:extLst>
              <a:ext uri="{FF2B5EF4-FFF2-40B4-BE49-F238E27FC236}">
                <a16:creationId xmlns:a16="http://schemas.microsoft.com/office/drawing/2014/main" id="{89A3195B-15E7-2D71-4EDA-DC78411A1967}"/>
              </a:ext>
            </a:extLst>
          </p:cNvPr>
          <p:cNvSpPr/>
          <p:nvPr/>
        </p:nvSpPr>
        <p:spPr>
          <a:xfrm>
            <a:off x="3374136" y="4238244"/>
            <a:ext cx="50292" cy="5029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48">
            <a:extLst>
              <a:ext uri="{FF2B5EF4-FFF2-40B4-BE49-F238E27FC236}">
                <a16:creationId xmlns:a16="http://schemas.microsoft.com/office/drawing/2014/main" id="{C56AEBEB-58B1-6941-3008-5ED36586D387}"/>
              </a:ext>
            </a:extLst>
          </p:cNvPr>
          <p:cNvSpPr/>
          <p:nvPr/>
        </p:nvSpPr>
        <p:spPr>
          <a:xfrm>
            <a:off x="3374136" y="4471416"/>
            <a:ext cx="50292" cy="5029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49">
            <a:extLst>
              <a:ext uri="{FF2B5EF4-FFF2-40B4-BE49-F238E27FC236}">
                <a16:creationId xmlns:a16="http://schemas.microsoft.com/office/drawing/2014/main" id="{C3745205-68C5-664E-99B2-592DB1A1696E}"/>
              </a:ext>
            </a:extLst>
          </p:cNvPr>
          <p:cNvSpPr/>
          <p:nvPr/>
        </p:nvSpPr>
        <p:spPr>
          <a:xfrm>
            <a:off x="6208776" y="30632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6" name="Shape 50">
            <a:extLst>
              <a:ext uri="{FF2B5EF4-FFF2-40B4-BE49-F238E27FC236}">
                <a16:creationId xmlns:a16="http://schemas.microsoft.com/office/drawing/2014/main" id="{88598C3D-4042-5712-8AEE-20DF0633E380}"/>
              </a:ext>
            </a:extLst>
          </p:cNvPr>
          <p:cNvSpPr/>
          <p:nvPr/>
        </p:nvSpPr>
        <p:spPr>
          <a:xfrm>
            <a:off x="6208776" y="3063240"/>
            <a:ext cx="2743200" cy="347472"/>
          </a:xfrm>
          <a:prstGeom prst="rect">
            <a:avLst/>
          </a:prstGeom>
          <a:solidFill>
            <a:srgbClr val="6B6B65"/>
          </a:solidFill>
          <a:ln w="12700">
            <a:solidFill>
              <a:srgbClr val="6B6B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51">
            <a:extLst>
              <a:ext uri="{FF2B5EF4-FFF2-40B4-BE49-F238E27FC236}">
                <a16:creationId xmlns:a16="http://schemas.microsoft.com/office/drawing/2014/main" id="{731607CA-65EC-4431-D151-BEE02E0D30C8}"/>
              </a:ext>
            </a:extLst>
          </p:cNvPr>
          <p:cNvSpPr/>
          <p:nvPr/>
        </p:nvSpPr>
        <p:spPr>
          <a:xfrm>
            <a:off x="6318504" y="311810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100"/>
          </a:p>
        </p:txBody>
      </p:sp>
      <p:sp>
        <p:nvSpPr>
          <p:cNvPr id="88" name="Text 52">
            <a:extLst>
              <a:ext uri="{FF2B5EF4-FFF2-40B4-BE49-F238E27FC236}">
                <a16:creationId xmlns:a16="http://schemas.microsoft.com/office/drawing/2014/main" id="{DBE0AA12-E30D-9D1F-E990-16AA5F334D66}"/>
              </a:ext>
            </a:extLst>
          </p:cNvPr>
          <p:cNvSpPr/>
          <p:nvPr/>
        </p:nvSpPr>
        <p:spPr>
          <a:xfrm>
            <a:off x="6364224" y="3383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
Arduino IDE
Figma (UI design)
GitHub (version control)
Thunder Client (API test)</a:t>
            </a:r>
            <a:endParaRPr lang="en-US" sz="1000" dirty="0"/>
          </a:p>
        </p:txBody>
      </p:sp>
      <p:sp>
        <p:nvSpPr>
          <p:cNvPr id="89" name="Shape 53">
            <a:extLst>
              <a:ext uri="{FF2B5EF4-FFF2-40B4-BE49-F238E27FC236}">
                <a16:creationId xmlns:a16="http://schemas.microsoft.com/office/drawing/2014/main" id="{562894C3-1084-2D03-A144-5646205D8E65}"/>
              </a:ext>
            </a:extLst>
          </p:cNvPr>
          <p:cNvSpPr/>
          <p:nvPr/>
        </p:nvSpPr>
        <p:spPr>
          <a:xfrm>
            <a:off x="6318504" y="3538728"/>
            <a:ext cx="50292" cy="50292"/>
          </a:xfrm>
          <a:prstGeom prst="ellipse">
            <a:avLst/>
          </a:prstGeom>
          <a:solidFill>
            <a:srgbClr val="6B6B65"/>
          </a:solidFill>
          <a:ln w="12700">
            <a:solidFill>
              <a:srgbClr val="6B6B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54">
            <a:extLst>
              <a:ext uri="{FF2B5EF4-FFF2-40B4-BE49-F238E27FC236}">
                <a16:creationId xmlns:a16="http://schemas.microsoft.com/office/drawing/2014/main" id="{DED56697-723E-E079-71F8-4D84D3E3FC80}"/>
              </a:ext>
            </a:extLst>
          </p:cNvPr>
          <p:cNvSpPr/>
          <p:nvPr/>
        </p:nvSpPr>
        <p:spPr>
          <a:xfrm>
            <a:off x="6318504" y="3771900"/>
            <a:ext cx="50292" cy="50292"/>
          </a:xfrm>
          <a:prstGeom prst="ellipse">
            <a:avLst/>
          </a:prstGeom>
          <a:solidFill>
            <a:srgbClr val="6B6B65"/>
          </a:solidFill>
          <a:ln w="12700">
            <a:solidFill>
              <a:srgbClr val="6B6B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55">
            <a:extLst>
              <a:ext uri="{FF2B5EF4-FFF2-40B4-BE49-F238E27FC236}">
                <a16:creationId xmlns:a16="http://schemas.microsoft.com/office/drawing/2014/main" id="{9DBEB9A1-BAFA-D22E-629C-3C72FB415C7E}"/>
              </a:ext>
            </a:extLst>
          </p:cNvPr>
          <p:cNvSpPr/>
          <p:nvPr/>
        </p:nvSpPr>
        <p:spPr>
          <a:xfrm>
            <a:off x="6318504" y="4005072"/>
            <a:ext cx="50292" cy="50292"/>
          </a:xfrm>
          <a:prstGeom prst="ellipse">
            <a:avLst/>
          </a:prstGeom>
          <a:solidFill>
            <a:srgbClr val="6B6B65"/>
          </a:solidFill>
          <a:ln w="12700">
            <a:solidFill>
              <a:srgbClr val="6B6B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56">
            <a:extLst>
              <a:ext uri="{FF2B5EF4-FFF2-40B4-BE49-F238E27FC236}">
                <a16:creationId xmlns:a16="http://schemas.microsoft.com/office/drawing/2014/main" id="{D8776963-569D-0F02-E422-B3B0A4D38658}"/>
              </a:ext>
            </a:extLst>
          </p:cNvPr>
          <p:cNvSpPr/>
          <p:nvPr/>
        </p:nvSpPr>
        <p:spPr>
          <a:xfrm>
            <a:off x="6318504" y="4238244"/>
            <a:ext cx="50292" cy="50292"/>
          </a:xfrm>
          <a:prstGeom prst="ellipse">
            <a:avLst/>
          </a:prstGeom>
          <a:solidFill>
            <a:srgbClr val="6B6B65"/>
          </a:solidFill>
          <a:ln w="12700">
            <a:solidFill>
              <a:srgbClr val="6B6B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57">
            <a:extLst>
              <a:ext uri="{FF2B5EF4-FFF2-40B4-BE49-F238E27FC236}">
                <a16:creationId xmlns:a16="http://schemas.microsoft.com/office/drawing/2014/main" id="{15948F83-23E7-F690-66AE-01BCFF738389}"/>
              </a:ext>
            </a:extLst>
          </p:cNvPr>
          <p:cNvSpPr/>
          <p:nvPr/>
        </p:nvSpPr>
        <p:spPr>
          <a:xfrm>
            <a:off x="6318504" y="4471416"/>
            <a:ext cx="50292" cy="50292"/>
          </a:xfrm>
          <a:prstGeom prst="ellipse">
            <a:avLst/>
          </a:prstGeom>
          <a:solidFill>
            <a:srgbClr val="6B6B65"/>
          </a:solidFill>
          <a:ln w="12700">
            <a:solidFill>
              <a:srgbClr val="6B6B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Used to Generate Code  (Part 1 of 2)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914400"/>
          </a:xfrm>
          <a:prstGeom prst="rect">
            <a:avLst/>
          </a:prstGeom>
          <a:solidFill>
            <a:srgbClr val="F0FAF7"/>
          </a:solidFill>
          <a:ln w="12700">
            <a:solidFill>
              <a:srgbClr val="4C94DF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48640" cy="914400"/>
          </a:xfrm>
          <a:prstGeom prst="rect">
            <a:avLst/>
          </a:prstGeom>
          <a:solidFill>
            <a:srgbClr val="4C94DF"/>
          </a:solidFill>
          <a:ln w="12700">
            <a:solidFill>
              <a:srgbClr val="4C94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960120" y="84124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Scaffold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>
                <a:solidFill>
                  <a:srgbClr val="3A5060"/>
                </a:solidFill>
                <a:latin typeface="Consolas"/>
              </a:rPr>
              <a:t>"</a:t>
            </a:r>
            <a:r>
              <a:rPr lang="en-US" sz="1050" i="1">
                <a:latin typeface="Consolas"/>
              </a:rPr>
              <a:t>give me dashboard for this application/research paper using react </a:t>
            </a:r>
            <a:r>
              <a:rPr lang="en-US" sz="1050" i="1" err="1">
                <a:latin typeface="Consolas"/>
              </a:rPr>
              <a:t>js</a:t>
            </a:r>
            <a:r>
              <a:rPr lang="en-US" sz="1050" i="1">
                <a:latin typeface="Consolas"/>
              </a:rPr>
              <a:t> ,mongo db</a:t>
            </a:r>
            <a:r>
              <a:rPr lang="en-US" sz="1050" i="1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950" i="1">
                <a:solidFill>
                  <a:srgbClr val="3A5060"/>
                </a:solidFill>
                <a:latin typeface="Consolas"/>
              </a:rPr>
              <a:t>"</a:t>
            </a:r>
            <a:endParaRPr lang="en-US" sz="950"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8503920" cy="914400"/>
          </a:xfrm>
          <a:prstGeom prst="rect">
            <a:avLst/>
          </a:prstGeom>
          <a:solidFill>
            <a:srgbClr val="F0FAF7"/>
          </a:solidFill>
          <a:ln w="12700">
            <a:solidFill>
              <a:srgbClr val="F4B243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548640" cy="914400"/>
          </a:xfrm>
          <a:prstGeom prst="rect">
            <a:avLst/>
          </a:prstGeom>
          <a:solidFill>
            <a:srgbClr val="F4B243"/>
          </a:solidFill>
          <a:ln w="12700">
            <a:solidFill>
              <a:srgbClr val="F4B2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960120" y="189280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Model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960120" y="216712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3A5060"/>
                </a:solidFill>
                <a:latin typeface="Consolas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050" i="1">
                <a:solidFill>
                  <a:srgbClr val="3A5060"/>
                </a:solidFill>
                <a:latin typeface="Consolas"/>
                <a:ea typeface="Consolas" pitchFamily="34" charset="-122"/>
                <a:cs typeface="Consolas" pitchFamily="34" charset="-120"/>
              </a:rPr>
              <a:t>Create a Mongoose schema </a:t>
            </a:r>
            <a:r>
              <a:rPr lang="en-US" sz="1050"/>
              <a:t>for IoT sensor readings with fields: temperature (°C), humidity (%), </a:t>
            </a:r>
            <a:r>
              <a:rPr lang="en-US" sz="1050" err="1"/>
              <a:t>weightTotal</a:t>
            </a:r>
            <a:r>
              <a:rPr lang="en-US" sz="1050"/>
              <a:t> (kg), </a:t>
            </a:r>
            <a:r>
              <a:rPr lang="en-US" sz="1050" err="1"/>
              <a:t>motionDetected</a:t>
            </a:r>
            <a:r>
              <a:rPr lang="en-US" sz="1050"/>
              <a:t> (bool), </a:t>
            </a:r>
            <a:r>
              <a:rPr lang="en-US" sz="1050" err="1"/>
              <a:t>distanceTop</a:t>
            </a:r>
            <a:r>
              <a:rPr lang="en-US" sz="1050"/>
              <a:t> and </a:t>
            </a:r>
            <a:r>
              <a:rPr lang="en-US" sz="1050" err="1"/>
              <a:t>distanceBottom</a:t>
            </a:r>
            <a:r>
              <a:rPr lang="en-US" sz="1050"/>
              <a:t> (cm), t</a:t>
            </a:r>
            <a:r>
              <a:rPr lang="en-US" sz="1050" i="1">
                <a:solidFill>
                  <a:srgbClr val="3A5060"/>
                </a:solidFill>
                <a:latin typeface="Consolas"/>
                <a:ea typeface="Consolas" pitchFamily="34" charset="-122"/>
                <a:cs typeface="Consolas" pitchFamily="34" charset="-120"/>
              </a:rPr>
              <a:t>imestamps, and an auto-generated </a:t>
            </a:r>
            <a:r>
              <a:rPr lang="en-US" sz="1050" i="1" err="1">
                <a:solidFill>
                  <a:srgbClr val="3A5060"/>
                </a:solidFill>
                <a:latin typeface="Consolas"/>
                <a:ea typeface="Consolas" pitchFamily="34" charset="-122"/>
                <a:cs typeface="Consolas" pitchFamily="34" charset="-120"/>
              </a:rPr>
              <a:t>spoilageRisk</a:t>
            </a:r>
            <a:r>
              <a:rPr lang="en-US" sz="1050" i="1">
                <a:solidFill>
                  <a:srgbClr val="3A5060"/>
                </a:solidFill>
                <a:latin typeface="Consolas"/>
                <a:ea typeface="Consolas" pitchFamily="34" charset="-122"/>
                <a:cs typeface="Consolas" pitchFamily="34" charset="-120"/>
              </a:rPr>
              <a:t> field.</a:t>
            </a:r>
            <a:r>
              <a:rPr lang="en-US" sz="950" i="1">
                <a:solidFill>
                  <a:srgbClr val="3A5060"/>
                </a:solidFill>
                <a:latin typeface="Consolas"/>
                <a:ea typeface="Consolas" pitchFamily="34" charset="-122"/>
                <a:cs typeface="Consolas" pitchFamily="34" charset="-120"/>
              </a:rPr>
              <a:t>"</a:t>
            </a:r>
            <a:endParaRPr lang="en-US" sz="950">
              <a:latin typeface="Consola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8503920" cy="914400"/>
          </a:xfrm>
          <a:prstGeom prst="rect">
            <a:avLst/>
          </a:prstGeom>
          <a:solidFill>
            <a:srgbClr val="F0FAF7"/>
          </a:solidFill>
          <a:ln w="12700">
            <a:solidFill>
              <a:srgbClr val="9B59B6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548640" cy="9144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960120" y="294436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960120" y="321868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>
                <a:solidFill>
                  <a:srgbClr val="3A5060"/>
                </a:solidFill>
                <a:latin typeface="Consolas"/>
              </a:rPr>
              <a:t>"</a:t>
            </a:r>
            <a:r>
              <a:rPr lang="en-US" sz="1050" i="1">
                <a:solidFill>
                  <a:srgbClr val="3A5060"/>
                </a:solidFill>
                <a:latin typeface="Consolas"/>
                <a:ea typeface="+mn-lt"/>
                <a:cs typeface="+mn-lt"/>
              </a:rPr>
              <a:t>give login page and </a:t>
            </a:r>
            <a:r>
              <a:rPr lang="en-US" sz="1050" i="1" err="1">
                <a:solidFill>
                  <a:srgbClr val="3A5060"/>
                </a:solidFill>
                <a:latin typeface="Consolas"/>
                <a:ea typeface="+mn-lt"/>
                <a:cs typeface="+mn-lt"/>
              </a:rPr>
              <a:t>dash board</a:t>
            </a:r>
            <a:r>
              <a:rPr lang="en-US" sz="1050" i="1">
                <a:solidFill>
                  <a:srgbClr val="3A5060"/>
                </a:solidFill>
                <a:latin typeface="Consolas"/>
                <a:ea typeface="+mn-lt"/>
                <a:cs typeface="+mn-lt"/>
              </a:rPr>
              <a:t> generate mongo </a:t>
            </a:r>
            <a:r>
              <a:rPr lang="en-US" sz="1050" i="1" err="1">
                <a:solidFill>
                  <a:srgbClr val="3A5060"/>
                </a:solidFill>
                <a:latin typeface="Consolas"/>
                <a:ea typeface="+mn-lt"/>
                <a:cs typeface="+mn-lt"/>
              </a:rPr>
              <a:t>db</a:t>
            </a:r>
            <a:r>
              <a:rPr lang="en-US" sz="1050" i="1">
                <a:solidFill>
                  <a:srgbClr val="3A5060"/>
                </a:solidFill>
                <a:latin typeface="Consolas"/>
                <a:ea typeface="+mn-lt"/>
                <a:cs typeface="+mn-lt"/>
              </a:rPr>
              <a:t> ,node </a:t>
            </a:r>
            <a:r>
              <a:rPr lang="en-US" sz="1050" i="1" err="1">
                <a:solidFill>
                  <a:srgbClr val="3A5060"/>
                </a:solidFill>
                <a:latin typeface="Consolas"/>
                <a:ea typeface="+mn-lt"/>
                <a:cs typeface="+mn-lt"/>
              </a:rPr>
              <a:t>js</a:t>
            </a:r>
            <a:r>
              <a:rPr lang="en-US" sz="1050" i="1">
                <a:solidFill>
                  <a:srgbClr val="3A5060"/>
                </a:solidFill>
                <a:latin typeface="Consolas"/>
                <a:ea typeface="+mn-lt"/>
                <a:cs typeface="+mn-lt"/>
              </a:rPr>
              <a:t>/react.js and give me code how to implement in </a:t>
            </a:r>
            <a:r>
              <a:rPr lang="en-US" sz="1050" i="1" err="1">
                <a:solidFill>
                  <a:srgbClr val="3A5060"/>
                </a:solidFill>
                <a:latin typeface="Consolas"/>
                <a:ea typeface="+mn-lt"/>
                <a:cs typeface="+mn-lt"/>
              </a:rPr>
              <a:t>vscode</a:t>
            </a:r>
            <a:r>
              <a:rPr lang="en-US" sz="1050" i="1">
                <a:solidFill>
                  <a:srgbClr val="3A5060"/>
                </a:solidFill>
                <a:latin typeface="Consolas"/>
                <a:ea typeface="Calibri"/>
                <a:cs typeface="Calibri"/>
              </a:rPr>
              <a:t>.</a:t>
            </a:r>
            <a:r>
              <a:rPr lang="en-US" sz="950" i="1">
                <a:solidFill>
                  <a:srgbClr val="3A5060"/>
                </a:solidFill>
                <a:latin typeface="Consolas"/>
                <a:ea typeface="Calibri"/>
                <a:cs typeface="Calibri"/>
              </a:rPr>
              <a:t> "</a:t>
            </a:r>
            <a:endParaRPr lang="en-US" sz="950"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931920"/>
            <a:ext cx="8503920" cy="914400"/>
          </a:xfrm>
          <a:prstGeom prst="rect">
            <a:avLst/>
          </a:prstGeom>
          <a:solidFill>
            <a:srgbClr val="F0FAF7"/>
          </a:solidFill>
          <a:ln w="12700">
            <a:solidFill>
              <a:srgbClr val="24CCA8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3931920"/>
            <a:ext cx="548640" cy="9144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960120" y="39959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960120" y="427024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3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Express.js middleware that validates a Bearer JWT token from the Authorization header, decodes the payload, attaches req.user, and returns 401 on failure."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Used to Generate Code  (Part 2 of 2)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914400"/>
          </a:xfrm>
          <a:prstGeom prst="rect">
            <a:avLst/>
          </a:prstGeom>
          <a:solidFill>
            <a:srgbClr val="F0FAF7"/>
          </a:solidFill>
          <a:ln w="12700">
            <a:solidFill>
              <a:srgbClr val="C5E0D8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48640" cy="914400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960120" y="84124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Inventory CRUD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60120" y="111556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3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Express.js routes for food inventory: GET all active items, POST new item with name/category/quantity/expiryDate, PUT update item, DELETE (soft-delete), and GET items expiring within N days."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8503920" cy="914400"/>
          </a:xfrm>
          <a:prstGeom prst="rect">
            <a:avLst/>
          </a:prstGeom>
          <a:solidFill>
            <a:srgbClr val="F0FAF7"/>
          </a:solidFill>
          <a:ln w="12700">
            <a:solidFill>
              <a:srgbClr val="C5E0D8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548640" cy="914400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960120" y="189280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Spoilage Analysis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960120" y="216712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3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"Integrate Google Gemini AI API into the Node.js backend. Pass current temperature, humidity, and food inventory data as context and prompt it to return a JSON spoilage risk assessment with recommendations."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8503920" cy="914400"/>
          </a:xfrm>
          <a:prstGeom prst="rect">
            <a:avLst/>
          </a:prstGeom>
          <a:solidFill>
            <a:srgbClr val="F0FAF7"/>
          </a:solidFill>
          <a:ln w="12700">
            <a:solidFill>
              <a:srgbClr val="C5E0D8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548640" cy="914400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960120" y="294436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System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960120" y="321868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3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an Express alerts route and Mongoose model for IoT and AI-generated alerts. Include severity (info/warning/critical), isRead flag, GET all alerts, PUT mark-as-read (single and all), and auto-create alerts when sensor thresholds are exceeded."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320040" y="3931920"/>
            <a:ext cx="8503920" cy="914400"/>
          </a:xfrm>
          <a:prstGeom prst="rect">
            <a:avLst/>
          </a:prstGeom>
          <a:solidFill>
            <a:srgbClr val="F0FAF7"/>
          </a:solidFill>
          <a:ln w="12700">
            <a:solidFill>
              <a:srgbClr val="C5E0D8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3931920"/>
            <a:ext cx="548640" cy="914400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960120" y="39959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Auth Context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960120" y="4270248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3A5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React Context and Provider for JWT authentication. Include login(), logout(), register() functions using Axios, persist the token in localStorage, expose user state, and protect routes with a PrivateRoute component."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8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03022A-0A44-2414-DADF-681EF4C7F4A1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4A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28B18D-1831-2C5C-FF19-3B36A7ED12CC}"/>
              </a:ext>
            </a:extLst>
          </p:cNvPr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4" name="Shape 35">
            <a:extLst>
              <a:ext uri="{FF2B5EF4-FFF2-40B4-BE49-F238E27FC236}">
                <a16:creationId xmlns:a16="http://schemas.microsoft.com/office/drawing/2014/main" id="{DCB9CF46-F8BC-4330-C71B-2D44EACF3326}"/>
              </a:ext>
            </a:extLst>
          </p:cNvPr>
          <p:cNvSpPr/>
          <p:nvPr/>
        </p:nvSpPr>
        <p:spPr>
          <a:xfrm>
            <a:off x="320040" y="2834640"/>
            <a:ext cx="8503920" cy="1920240"/>
          </a:xfrm>
          <a:prstGeom prst="rect">
            <a:avLst/>
          </a:prstGeom>
          <a:solidFill>
            <a:srgbClr val="1A3A4A"/>
          </a:solidFill>
          <a:ln w="12700">
            <a:solidFill>
              <a:srgbClr val="1F4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6">
            <a:extLst>
              <a:ext uri="{FF2B5EF4-FFF2-40B4-BE49-F238E27FC236}">
                <a16:creationId xmlns:a16="http://schemas.microsoft.com/office/drawing/2014/main" id="{5A3706BB-7385-6FB7-B82D-324A1CAAF783}"/>
              </a:ext>
            </a:extLst>
          </p:cNvPr>
          <p:cNvSpPr/>
          <p:nvPr/>
        </p:nvSpPr>
        <p:spPr>
          <a:xfrm>
            <a:off x="502920" y="29260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How it Works</a:t>
            </a:r>
            <a:endParaRPr lang="en-US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37">
            <a:extLst>
              <a:ext uri="{FF2B5EF4-FFF2-40B4-BE49-F238E27FC236}">
                <a16:creationId xmlns:a16="http://schemas.microsoft.com/office/drawing/2014/main" id="{D712ADED-D52C-226F-2FAA-BC811F008826}"/>
              </a:ext>
            </a:extLst>
          </p:cNvPr>
          <p:cNvSpPr/>
          <p:nvPr/>
        </p:nvSpPr>
        <p:spPr>
          <a:xfrm>
            <a:off x="50292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410C80-547C-A68F-46F8-E85568D9A8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000"/>
          <a:stretch>
            <a:fillRect/>
          </a:stretch>
        </p:blipFill>
        <p:spPr>
          <a:xfrm>
            <a:off x="204040" y="822960"/>
            <a:ext cx="8619919" cy="1851660"/>
          </a:xfrm>
          <a:prstGeom prst="rect">
            <a:avLst/>
          </a:prstGeom>
          <a:solidFill>
            <a:schemeClr val="bg2">
              <a:alpha val="59000"/>
            </a:schemeClr>
          </a:solid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1657DB-792E-3828-8BFA-83447C951366}"/>
              </a:ext>
            </a:extLst>
          </p:cNvPr>
          <p:cNvSpPr txBox="1"/>
          <p:nvPr/>
        </p:nvSpPr>
        <p:spPr>
          <a:xfrm>
            <a:off x="545716" y="3264553"/>
            <a:ext cx="2660367" cy="9355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918C4-D08F-868B-23D5-6FCD17BA2F66}"/>
              </a:ext>
            </a:extLst>
          </p:cNvPr>
          <p:cNvSpPr txBox="1"/>
          <p:nvPr/>
        </p:nvSpPr>
        <p:spPr>
          <a:xfrm>
            <a:off x="505096" y="3294555"/>
            <a:ext cx="711165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chemeClr val="bg2"/>
                </a:solidFill>
                <a:ea typeface="+mn-lt"/>
                <a:cs typeface="+mn-lt"/>
              </a:rPr>
              <a:t>Sensors collect data (temperature, weight) </a:t>
            </a:r>
            <a:endParaRPr lang="en-US" sz="1400">
              <a:solidFill>
                <a:schemeClr val="bg2"/>
              </a:solidFill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chemeClr val="bg2"/>
                </a:solidFill>
                <a:ea typeface="+mn-lt"/>
                <a:cs typeface="+mn-lt"/>
              </a:rPr>
              <a:t>ESP32 sends data to cloud via MQTT </a:t>
            </a:r>
            <a:endParaRPr lang="en-US" sz="1400">
              <a:solidFill>
                <a:schemeClr val="bg2"/>
              </a:solidFill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chemeClr val="bg2"/>
                </a:solidFill>
                <a:ea typeface="+mn-lt"/>
                <a:cs typeface="+mn-lt"/>
              </a:rPr>
              <a:t>Backend API stores data in MongoDB </a:t>
            </a:r>
            <a:endParaRPr lang="en-US" sz="1400">
              <a:solidFill>
                <a:schemeClr val="bg2"/>
              </a:solidFill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chemeClr val="bg2"/>
                </a:solidFill>
                <a:ea typeface="+mn-lt"/>
                <a:cs typeface="+mn-lt"/>
              </a:rPr>
              <a:t>AI analyzes data and predicts spoilage </a:t>
            </a:r>
            <a:endParaRPr lang="en-US" sz="1400">
              <a:solidFill>
                <a:schemeClr val="bg2"/>
              </a:solidFill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solidFill>
                  <a:schemeClr val="bg2"/>
                </a:solidFill>
                <a:ea typeface="+mn-lt"/>
                <a:cs typeface="+mn-lt"/>
              </a:rPr>
              <a:t>Dashboard displays results</a:t>
            </a:r>
            <a:endParaRPr lang="en-US" sz="1400">
              <a:solidFill>
                <a:schemeClr val="bg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0018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E2E3-DA65-0DBD-85D2-A5DBF18B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835D75-AEE0-DBC1-1C9D-EA1789C7E229}"/>
              </a:ext>
            </a:extLst>
          </p:cNvPr>
          <p:cNvSpPr/>
          <p:nvPr/>
        </p:nvSpPr>
        <p:spPr>
          <a:xfrm>
            <a:off x="0" y="0"/>
            <a:ext cx="9144000" cy="714768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F9BF6B-2434-AD30-D65A-7CFED7B1F97C}"/>
              </a:ext>
            </a:extLst>
          </p:cNvPr>
          <p:cNvSpPr/>
          <p:nvPr/>
        </p:nvSpPr>
        <p:spPr>
          <a:xfrm>
            <a:off x="228600" y="138745"/>
            <a:ext cx="8229600" cy="561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EB44373-9695-A106-536E-A888647FD3A7}"/>
              </a:ext>
            </a:extLst>
          </p:cNvPr>
          <p:cNvSpPr/>
          <p:nvPr/>
        </p:nvSpPr>
        <p:spPr>
          <a:xfrm>
            <a:off x="228600" y="925489"/>
            <a:ext cx="1234440" cy="53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F62B34E-F10F-77DB-D393-0572D95B2809}"/>
              </a:ext>
            </a:extLst>
          </p:cNvPr>
          <p:cNvSpPr/>
          <p:nvPr/>
        </p:nvSpPr>
        <p:spPr>
          <a:xfrm>
            <a:off x="228600" y="1402704"/>
            <a:ext cx="1234440" cy="428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DHT22, HX711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PIR, Ultrasonic</a:t>
            </a:r>
            <a:endParaRPr lang="en-US" sz="85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FC2CC19-E985-735C-A964-41929C73F6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22" b="42215"/>
          <a:stretch>
            <a:fillRect/>
          </a:stretch>
        </p:blipFill>
        <p:spPr>
          <a:xfrm>
            <a:off x="0" y="934467"/>
            <a:ext cx="9144000" cy="417404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D1B0A01-7D21-4C3F-F343-65CA6F3669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7" t="14139" r="72215" b="54029"/>
          <a:stretch>
            <a:fillRect/>
          </a:stretch>
        </p:blipFill>
        <p:spPr>
          <a:xfrm>
            <a:off x="143584" y="1464224"/>
            <a:ext cx="2235286" cy="282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09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08FD48-F191-E3B3-C9CF-DD816AF4E8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679" b="34141"/>
          <a:stretch>
            <a:fillRect/>
          </a:stretch>
        </p:blipFill>
        <p:spPr>
          <a:xfrm>
            <a:off x="0" y="-250521"/>
            <a:ext cx="9144000" cy="538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599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Application Views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1920240"/>
          </a:xfrm>
          <a:prstGeom prst="rect">
            <a:avLst/>
          </a:prstGeom>
          <a:solidFill>
            <a:srgbClr val="F0FAF7"/>
          </a:solidFill>
          <a:ln w="12700">
            <a:solidFill>
              <a:srgbClr val="C5E0D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1480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832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700"/>
          </a:p>
        </p:txBody>
      </p:sp>
      <p:sp>
        <p:nvSpPr>
          <p:cNvPr id="7" name="Text 5"/>
          <p:cNvSpPr/>
          <p:nvPr/>
        </p:nvSpPr>
        <p:spPr>
          <a:xfrm>
            <a:off x="960120" y="8321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 —  Smart Fridge</a:t>
            </a:r>
            <a:endParaRPr lang="en-US" sz="7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105156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— email &amp; password form with validation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502920" y="2331720"/>
            <a:ext cx="182880" cy="182880"/>
          </a:xfrm>
          <a:prstGeom prst="rect">
            <a:avLst/>
          </a:prstGeom>
          <a:solidFill>
            <a:srgbClr val="4A90D9">
              <a:alpha val="75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58952" y="2221992"/>
            <a:ext cx="182880" cy="292608"/>
          </a:xfrm>
          <a:prstGeom prst="rect">
            <a:avLst/>
          </a:prstGeom>
          <a:solidFill>
            <a:srgbClr val="4A90D9">
              <a:alpha val="75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014984" y="2295144"/>
            <a:ext cx="182880" cy="219456"/>
          </a:xfrm>
          <a:prstGeom prst="rect">
            <a:avLst/>
          </a:prstGeom>
          <a:solidFill>
            <a:srgbClr val="4A90D9">
              <a:alpha val="75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271016" y="2148840"/>
            <a:ext cx="182880" cy="365760"/>
          </a:xfrm>
          <a:prstGeom prst="rect">
            <a:avLst/>
          </a:prstGeom>
          <a:solidFill>
            <a:srgbClr val="4A90D9">
              <a:alpha val="75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1527048" y="2240280"/>
            <a:ext cx="182880" cy="274320"/>
          </a:xfrm>
          <a:prstGeom prst="rect">
            <a:avLst/>
          </a:prstGeom>
          <a:solidFill>
            <a:srgbClr val="4A90D9">
              <a:alpha val="75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1783080" y="2185416"/>
            <a:ext cx="182880" cy="329184"/>
          </a:xfrm>
          <a:prstGeom prst="rect">
            <a:avLst/>
          </a:prstGeom>
          <a:solidFill>
            <a:srgbClr val="4A90D9">
              <a:alpha val="75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148840" y="21671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8F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/ Live Demo ]</a:t>
            </a:r>
            <a:endParaRPr lang="en-US" sz="850"/>
          </a:p>
        </p:txBody>
      </p:sp>
      <p:sp>
        <p:nvSpPr>
          <p:cNvPr id="18" name="Shape 15"/>
          <p:cNvSpPr/>
          <p:nvPr/>
        </p:nvSpPr>
        <p:spPr>
          <a:xfrm>
            <a:off x="4754880" y="777240"/>
            <a:ext cx="4114800" cy="1920240"/>
          </a:xfrm>
          <a:prstGeom prst="rect">
            <a:avLst/>
          </a:prstGeom>
          <a:solidFill>
            <a:srgbClr val="F0FAF7"/>
          </a:solidFill>
          <a:ln w="12700">
            <a:solidFill>
              <a:srgbClr val="C5E0D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846320" y="832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700"/>
          </a:p>
        </p:txBody>
      </p:sp>
      <p:sp>
        <p:nvSpPr>
          <p:cNvPr id="21" name="Text 18"/>
          <p:cNvSpPr/>
          <p:nvPr/>
        </p:nvSpPr>
        <p:spPr>
          <a:xfrm>
            <a:off x="5394960" y="8321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 —  Smart Fridge</a:t>
            </a:r>
            <a:endParaRPr lang="en-US" sz="70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86400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/>
          </a:p>
        </p:txBody>
      </p:sp>
      <p:sp>
        <p:nvSpPr>
          <p:cNvPr id="24" name="Text 20"/>
          <p:cNvSpPr/>
          <p:nvPr/>
        </p:nvSpPr>
        <p:spPr>
          <a:xfrm>
            <a:off x="54864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temp/humidity charts + sensor stat cards</a:t>
            </a:r>
            <a:endParaRPr lang="en-US" sz="1100"/>
          </a:p>
        </p:txBody>
      </p:sp>
      <p:sp>
        <p:nvSpPr>
          <p:cNvPr id="25" name="Shape 21"/>
          <p:cNvSpPr/>
          <p:nvPr/>
        </p:nvSpPr>
        <p:spPr>
          <a:xfrm>
            <a:off x="4937760" y="2331720"/>
            <a:ext cx="182880" cy="182880"/>
          </a:xfrm>
          <a:prstGeom prst="rect">
            <a:avLst/>
          </a:prstGeom>
          <a:solidFill>
            <a:srgbClr val="00C49A">
              <a:alpha val="75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5193792" y="2221992"/>
            <a:ext cx="182880" cy="292608"/>
          </a:xfrm>
          <a:prstGeom prst="rect">
            <a:avLst/>
          </a:prstGeom>
          <a:solidFill>
            <a:srgbClr val="00C49A">
              <a:alpha val="75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5449824" y="2295144"/>
            <a:ext cx="182880" cy="219456"/>
          </a:xfrm>
          <a:prstGeom prst="rect">
            <a:avLst/>
          </a:prstGeom>
          <a:solidFill>
            <a:srgbClr val="00C49A">
              <a:alpha val="75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5705856" y="2148840"/>
            <a:ext cx="182880" cy="365760"/>
          </a:xfrm>
          <a:prstGeom prst="rect">
            <a:avLst/>
          </a:prstGeom>
          <a:solidFill>
            <a:srgbClr val="00C49A">
              <a:alpha val="75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5961888" y="2240280"/>
            <a:ext cx="182880" cy="274320"/>
          </a:xfrm>
          <a:prstGeom prst="rect">
            <a:avLst/>
          </a:prstGeom>
          <a:solidFill>
            <a:srgbClr val="00C49A">
              <a:alpha val="75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6217920" y="2185416"/>
            <a:ext cx="182880" cy="329184"/>
          </a:xfrm>
          <a:prstGeom prst="rect">
            <a:avLst/>
          </a:prstGeom>
          <a:solidFill>
            <a:srgbClr val="00C49A">
              <a:alpha val="75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6583680" y="21671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8F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/ Live Demo ]</a:t>
            </a:r>
            <a:endParaRPr lang="en-US" sz="850"/>
          </a:p>
        </p:txBody>
      </p:sp>
      <p:sp>
        <p:nvSpPr>
          <p:cNvPr id="32" name="Shape 28"/>
          <p:cNvSpPr/>
          <p:nvPr/>
        </p:nvSpPr>
        <p:spPr>
          <a:xfrm>
            <a:off x="320040" y="2880360"/>
            <a:ext cx="4114800" cy="1920240"/>
          </a:xfrm>
          <a:prstGeom prst="rect">
            <a:avLst/>
          </a:prstGeom>
          <a:solidFill>
            <a:srgbClr val="F0FAF7"/>
          </a:solidFill>
          <a:ln w="12700">
            <a:solidFill>
              <a:srgbClr val="C5E0D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320040" y="2880360"/>
            <a:ext cx="411480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411480" y="2935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700"/>
          </a:p>
        </p:txBody>
      </p:sp>
      <p:sp>
        <p:nvSpPr>
          <p:cNvPr id="35" name="Text 31"/>
          <p:cNvSpPr/>
          <p:nvPr/>
        </p:nvSpPr>
        <p:spPr>
          <a:xfrm>
            <a:off x="960120" y="29352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 —  Smart Fridge</a:t>
            </a:r>
            <a:endParaRPr lang="en-US" sz="70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37560"/>
            <a:ext cx="502920" cy="5029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051560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Inventory</a:t>
            </a:r>
            <a:endParaRPr lang="en-US" sz="1400"/>
          </a:p>
        </p:txBody>
      </p:sp>
      <p:sp>
        <p:nvSpPr>
          <p:cNvPr id="38" name="Text 33"/>
          <p:cNvSpPr/>
          <p:nvPr/>
        </p:nvSpPr>
        <p:spPr>
          <a:xfrm>
            <a:off x="105156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items with colour-coded expiry status</a:t>
            </a:r>
            <a:endParaRPr lang="en-US" sz="1100"/>
          </a:p>
        </p:txBody>
      </p:sp>
      <p:sp>
        <p:nvSpPr>
          <p:cNvPr id="39" name="Shape 34"/>
          <p:cNvSpPr/>
          <p:nvPr/>
        </p:nvSpPr>
        <p:spPr>
          <a:xfrm>
            <a:off x="502920" y="4434840"/>
            <a:ext cx="182880" cy="182880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5"/>
          <p:cNvSpPr/>
          <p:nvPr/>
        </p:nvSpPr>
        <p:spPr>
          <a:xfrm>
            <a:off x="758952" y="4325112"/>
            <a:ext cx="182880" cy="292608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6"/>
          <p:cNvSpPr/>
          <p:nvPr/>
        </p:nvSpPr>
        <p:spPr>
          <a:xfrm>
            <a:off x="1014984" y="4398264"/>
            <a:ext cx="182880" cy="219456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7"/>
          <p:cNvSpPr/>
          <p:nvPr/>
        </p:nvSpPr>
        <p:spPr>
          <a:xfrm>
            <a:off x="1271016" y="4251960"/>
            <a:ext cx="182880" cy="365760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8"/>
          <p:cNvSpPr/>
          <p:nvPr/>
        </p:nvSpPr>
        <p:spPr>
          <a:xfrm>
            <a:off x="1527048" y="4343400"/>
            <a:ext cx="182880" cy="274320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9"/>
          <p:cNvSpPr/>
          <p:nvPr/>
        </p:nvSpPr>
        <p:spPr>
          <a:xfrm>
            <a:off x="1783080" y="4288536"/>
            <a:ext cx="182880" cy="329184"/>
          </a:xfrm>
          <a:prstGeom prst="rect">
            <a:avLst/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0"/>
          <p:cNvSpPr/>
          <p:nvPr/>
        </p:nvSpPr>
        <p:spPr>
          <a:xfrm>
            <a:off x="2148840" y="4270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8F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/ Live Demo ]</a:t>
            </a:r>
            <a:endParaRPr lang="en-US" sz="850"/>
          </a:p>
        </p:txBody>
      </p:sp>
      <p:sp>
        <p:nvSpPr>
          <p:cNvPr id="46" name="Shape 41"/>
          <p:cNvSpPr/>
          <p:nvPr/>
        </p:nvSpPr>
        <p:spPr>
          <a:xfrm>
            <a:off x="4754880" y="2880360"/>
            <a:ext cx="4114800" cy="1920240"/>
          </a:xfrm>
          <a:prstGeom prst="rect">
            <a:avLst/>
          </a:prstGeom>
          <a:solidFill>
            <a:srgbClr val="F0FAF7"/>
          </a:solidFill>
          <a:ln w="12700">
            <a:solidFill>
              <a:srgbClr val="C5E0D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2"/>
          <p:cNvSpPr/>
          <p:nvPr/>
        </p:nvSpPr>
        <p:spPr>
          <a:xfrm>
            <a:off x="4754880" y="2880360"/>
            <a:ext cx="411480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3"/>
          <p:cNvSpPr/>
          <p:nvPr/>
        </p:nvSpPr>
        <p:spPr>
          <a:xfrm>
            <a:off x="4846320" y="2935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700"/>
          </a:p>
        </p:txBody>
      </p:sp>
      <p:sp>
        <p:nvSpPr>
          <p:cNvPr id="49" name="Text 44"/>
          <p:cNvSpPr/>
          <p:nvPr/>
        </p:nvSpPr>
        <p:spPr>
          <a:xfrm>
            <a:off x="5394960" y="29352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 —  Smart Fridge</a:t>
            </a:r>
            <a:endParaRPr lang="en-US" sz="700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337560"/>
            <a:ext cx="502920" cy="50292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486400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Centre</a:t>
            </a:r>
            <a:endParaRPr lang="en-US" sz="1400"/>
          </a:p>
        </p:txBody>
      </p:sp>
      <p:sp>
        <p:nvSpPr>
          <p:cNvPr id="52" name="Text 46"/>
          <p:cNvSpPr/>
          <p:nvPr/>
        </p:nvSpPr>
        <p:spPr>
          <a:xfrm>
            <a:off x="548640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 alerts with severity badges and mark-as-read</a:t>
            </a:r>
            <a:endParaRPr lang="en-US" sz="1100"/>
          </a:p>
        </p:txBody>
      </p:sp>
      <p:sp>
        <p:nvSpPr>
          <p:cNvPr id="53" name="Shape 47"/>
          <p:cNvSpPr/>
          <p:nvPr/>
        </p:nvSpPr>
        <p:spPr>
          <a:xfrm>
            <a:off x="4937760" y="4434840"/>
            <a:ext cx="182880" cy="182880"/>
          </a:xfrm>
          <a:prstGeom prst="rect">
            <a:avLst/>
          </a:prstGeom>
          <a:solidFill>
            <a:srgbClr val="E74C3C">
              <a:alpha val="7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48"/>
          <p:cNvSpPr/>
          <p:nvPr/>
        </p:nvSpPr>
        <p:spPr>
          <a:xfrm>
            <a:off x="5193792" y="4325112"/>
            <a:ext cx="182880" cy="292608"/>
          </a:xfrm>
          <a:prstGeom prst="rect">
            <a:avLst/>
          </a:prstGeom>
          <a:solidFill>
            <a:srgbClr val="E74C3C">
              <a:alpha val="7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49"/>
          <p:cNvSpPr/>
          <p:nvPr/>
        </p:nvSpPr>
        <p:spPr>
          <a:xfrm>
            <a:off x="5449824" y="4398264"/>
            <a:ext cx="182880" cy="219456"/>
          </a:xfrm>
          <a:prstGeom prst="rect">
            <a:avLst/>
          </a:prstGeom>
          <a:solidFill>
            <a:srgbClr val="E74C3C">
              <a:alpha val="7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0"/>
          <p:cNvSpPr/>
          <p:nvPr/>
        </p:nvSpPr>
        <p:spPr>
          <a:xfrm>
            <a:off x="5705856" y="4251960"/>
            <a:ext cx="182880" cy="365760"/>
          </a:xfrm>
          <a:prstGeom prst="rect">
            <a:avLst/>
          </a:prstGeom>
          <a:solidFill>
            <a:srgbClr val="E74C3C">
              <a:alpha val="7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1"/>
          <p:cNvSpPr/>
          <p:nvPr/>
        </p:nvSpPr>
        <p:spPr>
          <a:xfrm>
            <a:off x="5961888" y="4343400"/>
            <a:ext cx="182880" cy="274320"/>
          </a:xfrm>
          <a:prstGeom prst="rect">
            <a:avLst/>
          </a:prstGeom>
          <a:solidFill>
            <a:srgbClr val="E74C3C">
              <a:alpha val="7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2"/>
          <p:cNvSpPr/>
          <p:nvPr/>
        </p:nvSpPr>
        <p:spPr>
          <a:xfrm>
            <a:off x="6217920" y="4288536"/>
            <a:ext cx="182880" cy="329184"/>
          </a:xfrm>
          <a:prstGeom prst="rect">
            <a:avLst/>
          </a:prstGeom>
          <a:solidFill>
            <a:srgbClr val="E74C3C">
              <a:alpha val="7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3"/>
          <p:cNvSpPr/>
          <p:nvPr/>
        </p:nvSpPr>
        <p:spPr>
          <a:xfrm>
            <a:off x="6583680" y="4270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8F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/ Live Demo ]</a:t>
            </a:r>
            <a:endParaRPr lang="en-US" sz="850"/>
          </a:p>
        </p:txBody>
      </p:sp>
      <p:pic>
        <p:nvPicPr>
          <p:cNvPr id="60" name="Picture 59" descr="A screenshot of a green screen&#10;&#10;AI-generated content may be incorrect.">
            <a:extLst>
              <a:ext uri="{FF2B5EF4-FFF2-40B4-BE49-F238E27FC236}">
                <a16:creationId xmlns:a16="http://schemas.microsoft.com/office/drawing/2014/main" id="{6747A8FC-A7A0-0D69-8650-08F98C31F0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659" y="534687"/>
            <a:ext cx="4765436" cy="2257038"/>
          </a:xfrm>
          <a:prstGeom prst="rect">
            <a:avLst/>
          </a:prstGeom>
        </p:spPr>
      </p:pic>
      <p:pic>
        <p:nvPicPr>
          <p:cNvPr id="62" name="Picture 6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27780F-F0C2-13C9-B723-A85B78F528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688" y="2780941"/>
            <a:ext cx="4756043" cy="2358985"/>
          </a:xfrm>
          <a:prstGeom prst="rect">
            <a:avLst/>
          </a:prstGeom>
        </p:spPr>
      </p:pic>
      <p:pic>
        <p:nvPicPr>
          <p:cNvPr id="63" name="Picture 62" descr="A screenshot of a chat&#10;&#10;AI-generated content may be incorrect.">
            <a:extLst>
              <a:ext uri="{FF2B5EF4-FFF2-40B4-BE49-F238E27FC236}">
                <a16:creationId xmlns:a16="http://schemas.microsoft.com/office/drawing/2014/main" id="{4F466179-4563-2943-7572-07C20EA31F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5013" y="2775966"/>
            <a:ext cx="4384730" cy="2369961"/>
          </a:xfrm>
          <a:prstGeom prst="rect">
            <a:avLst/>
          </a:prstGeom>
        </p:spPr>
      </p:pic>
      <p:pic>
        <p:nvPicPr>
          <p:cNvPr id="65" name="Picture 6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7E5898-5A04-1F3F-EC41-C8AC86CA85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1199" y="532467"/>
            <a:ext cx="4389425" cy="22441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29270-8FF4-BF68-D721-7BC2C11C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D3A4C8-BF46-13C4-41F7-E51CBD10D815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36E654-130C-3548-FEC0-6CC7A770E20E}"/>
              </a:ext>
            </a:extLst>
          </p:cNvPr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6B65"/>
                </a:solidFill>
              </a:rPr>
              <a:t>11 / 12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B75362-16F6-A837-C63D-CDC9D50CE0EE}"/>
              </a:ext>
            </a:extLst>
          </p:cNvPr>
          <p:cNvSpPr/>
          <p:nvPr/>
        </p:nvSpPr>
        <p:spPr>
          <a:xfrm>
            <a:off x="82722" y="231699"/>
            <a:ext cx="85039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>
                <a:solidFill>
                  <a:srgbClr val="00C49A"/>
                </a:solidFill>
                <a:ea typeface="Calibri"/>
                <a:cs typeface="Calibri"/>
              </a:rPr>
              <a:t>Proof of Prompts Generating Code</a:t>
            </a:r>
            <a:endParaRPr lang="en-US" sz="220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2200" b="1">
              <a:solidFill>
                <a:srgbClr val="1A2E29"/>
              </a:solidFill>
              <a:ea typeface="Calibri"/>
              <a:cs typeface="Calibri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9CD282-6CFD-245B-7209-A83E12B68114}"/>
              </a:ext>
            </a:extLst>
          </p:cNvPr>
          <p:cNvSpPr/>
          <p:nvPr/>
        </p:nvSpPr>
        <p:spPr>
          <a:xfrm>
            <a:off x="3286958" y="933695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(Google)</a:t>
            </a:r>
            <a:endParaRPr lang="en-US" sz="12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DC81A05-3A5E-BBFC-7CF0-C95ACDA9D180}"/>
              </a:ext>
            </a:extLst>
          </p:cNvPr>
          <p:cNvSpPr/>
          <p:nvPr/>
        </p:nvSpPr>
        <p:spPr>
          <a:xfrm>
            <a:off x="6231326" y="933695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(OpenAI)</a:t>
            </a:r>
            <a:endParaRPr lang="en-US" sz="1200"/>
          </a:p>
        </p:txBody>
      </p:sp>
      <p:pic>
        <p:nvPicPr>
          <p:cNvPr id="50" name="Picture 4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A02104-94F6-2E70-A035-B48302C32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63" y="661827"/>
            <a:ext cx="4299487" cy="1974578"/>
          </a:xfrm>
          <a:prstGeom prst="rect">
            <a:avLst/>
          </a:prstGeom>
        </p:spPr>
      </p:pic>
      <p:sp>
        <p:nvSpPr>
          <p:cNvPr id="54" name="Text 5">
            <a:extLst>
              <a:ext uri="{FF2B5EF4-FFF2-40B4-BE49-F238E27FC236}">
                <a16:creationId xmlns:a16="http://schemas.microsoft.com/office/drawing/2014/main" id="{C9D1F93C-D84D-1D42-A113-E568A516DD58}"/>
              </a:ext>
            </a:extLst>
          </p:cNvPr>
          <p:cNvSpPr/>
          <p:nvPr/>
        </p:nvSpPr>
        <p:spPr>
          <a:xfrm>
            <a:off x="237124" y="43844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00C49A"/>
                </a:solidFill>
                <a:latin typeface="Calibri"/>
                <a:ea typeface="Calibri"/>
                <a:cs typeface="Calibri"/>
              </a:rPr>
              <a:t>Screenshot 1 — Backend Server (P1)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37FF5BC8-CB92-A217-B934-22085B14457F}"/>
              </a:ext>
            </a:extLst>
          </p:cNvPr>
          <p:cNvSpPr/>
          <p:nvPr/>
        </p:nvSpPr>
        <p:spPr>
          <a:xfrm>
            <a:off x="4657435" y="39001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 — Sensor Schema (P2)</a:t>
            </a:r>
            <a:endParaRPr lang="en-US" sz="900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0ABB94D9-028D-8DF7-C54D-C3BFBB8EC9EE}"/>
              </a:ext>
            </a:extLst>
          </p:cNvPr>
          <p:cNvSpPr/>
          <p:nvPr/>
        </p:nvSpPr>
        <p:spPr>
          <a:xfrm>
            <a:off x="237124" y="2617121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3 — Dashboard React Page (P3)</a:t>
            </a:r>
            <a:endParaRPr lang="en-US" sz="900"/>
          </a:p>
        </p:txBody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DDCB4186-B5F5-43D0-CA0D-D1EC86D7BCF7}"/>
              </a:ext>
            </a:extLst>
          </p:cNvPr>
          <p:cNvSpPr/>
          <p:nvPr/>
        </p:nvSpPr>
        <p:spPr>
          <a:xfrm>
            <a:off x="4705867" y="2651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4 — Gemini AI Integration (P6)</a:t>
            </a:r>
            <a:endParaRPr lang="en-US" sz="900"/>
          </a:p>
        </p:txBody>
      </p:sp>
      <p:pic>
        <p:nvPicPr>
          <p:cNvPr id="59" name="Picture 5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DC0A8D-0757-C7A8-1236-2FA328571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767" y="2871625"/>
            <a:ext cx="4305623" cy="2156045"/>
          </a:xfrm>
          <a:prstGeom prst="rect">
            <a:avLst/>
          </a:prstGeom>
        </p:spPr>
      </p:pic>
      <p:pic>
        <p:nvPicPr>
          <p:cNvPr id="60" name="Picture 5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2401D6-EB3C-79FF-345D-172D95D86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162" y="2879743"/>
            <a:ext cx="4295935" cy="2154339"/>
          </a:xfrm>
          <a:prstGeom prst="rect">
            <a:avLst/>
          </a:prstGeom>
        </p:spPr>
      </p:pic>
      <p:pic>
        <p:nvPicPr>
          <p:cNvPr id="61" name="Picture 6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B82D37-4248-A6E9-754B-F2B8E17C3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7923" y="661449"/>
            <a:ext cx="4324997" cy="197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71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solidFill>
            <a:srgbClr val="1A3A4A"/>
          </a:solidFill>
          <a:ln w="12700">
            <a:solidFill>
              <a:srgbClr val="1F4A5A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IN" dirty="0"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5720" cy="3657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rgbClr val="C5DCE8"/>
                </a:solidFill>
                <a:latin typeface="Calibri"/>
                <a:ea typeface="Calibri"/>
                <a:cs typeface="Calibri"/>
              </a:rPr>
              <a:t>[1] </a:t>
            </a:r>
            <a:r>
              <a:rPr lang="en-US" sz="950">
                <a:solidFill>
                  <a:srgbClr val="C5DCE8"/>
                </a:solidFill>
                <a:ea typeface="+mn-lt"/>
                <a:cs typeface="+mn-lt"/>
              </a:rPr>
              <a:t>Recommendations for Developing a Low-Cost Smart Refrigerator with Predictive Spoilage Alerts. https://ieeexplore.ieee.org/abstract/document/11158709</a:t>
            </a:r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97864"/>
            <a:ext cx="8503920" cy="365760"/>
          </a:xfrm>
          <a:prstGeom prst="rect">
            <a:avLst/>
          </a:prstGeom>
          <a:solidFill>
            <a:srgbClr val="0D1F2D"/>
          </a:solidFill>
          <a:ln w="12700">
            <a:solidFill>
              <a:srgbClr val="1F4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197864"/>
            <a:ext cx="45720" cy="3657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225296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Meta Open Source. (2024). React Documentation. https://react.dev/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365760"/>
          </a:xfrm>
          <a:prstGeom prst="rect">
            <a:avLst/>
          </a:prstGeom>
          <a:solidFill>
            <a:srgbClr val="1A3A4A"/>
          </a:solidFill>
          <a:ln w="12700">
            <a:solidFill>
              <a:srgbClr val="1F4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618488"/>
            <a:ext cx="45720" cy="3657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CE8"/>
                </a:solidFill>
                <a:latin typeface="Calibri"/>
                <a:ea typeface="Calibri"/>
                <a:cs typeface="Calibri"/>
              </a:rPr>
              <a:t>[3]  OpenJS Foundation. (2024). Node.js Documentation. https://nodejs.org/en/docs/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039112"/>
            <a:ext cx="8503920" cy="365760"/>
          </a:xfrm>
          <a:prstGeom prst="rect">
            <a:avLst/>
          </a:prstGeom>
          <a:solidFill>
            <a:srgbClr val="0D1F2D"/>
          </a:solidFill>
          <a:ln w="12700">
            <a:solidFill>
              <a:srgbClr val="1F4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039112"/>
            <a:ext cx="45720" cy="3657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066544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Expressjs.com. (2024). Express.js Guide. https://expressjs.com/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320040" y="2459736"/>
            <a:ext cx="8503920" cy="365760"/>
          </a:xfrm>
          <a:prstGeom prst="rect">
            <a:avLst/>
          </a:prstGeom>
          <a:solidFill>
            <a:srgbClr val="1A3A4A"/>
          </a:solidFill>
          <a:ln w="12700">
            <a:solidFill>
              <a:srgbClr val="1F4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2459736"/>
            <a:ext cx="45720" cy="3657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2487168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Google AI. (2024). Gemini API Documentation. https://ai.google.dev/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8503920" cy="365760"/>
          </a:xfrm>
          <a:prstGeom prst="rect">
            <a:avLst/>
          </a:prstGeom>
          <a:solidFill>
            <a:srgbClr val="0D1F2D"/>
          </a:solidFill>
          <a:ln w="12700">
            <a:solidFill>
              <a:srgbClr val="1F4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45720" cy="3657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907792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EMQX. (2024). EMQX MQTT Broker Documentation. https://www.emqx.io/docs/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320040" y="3300984"/>
            <a:ext cx="8503920" cy="365760"/>
          </a:xfrm>
          <a:prstGeom prst="rect">
            <a:avLst/>
          </a:prstGeom>
          <a:solidFill>
            <a:srgbClr val="1A3A4A"/>
          </a:solidFill>
          <a:ln w="12700">
            <a:solidFill>
              <a:srgbClr val="1F4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0040" y="3300984"/>
            <a:ext cx="45720" cy="3657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3328416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Node-RED. (2024). Node-RED Documentation. https://nodered.org/docs/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320040" y="3721608"/>
            <a:ext cx="8503920" cy="365760"/>
          </a:xfrm>
          <a:prstGeom prst="rect">
            <a:avLst/>
          </a:prstGeom>
          <a:solidFill>
            <a:srgbClr val="0D1F2D"/>
          </a:solidFill>
          <a:ln w="12700">
            <a:solidFill>
              <a:srgbClr val="1F4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3721608"/>
            <a:ext cx="45720" cy="3657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CE8"/>
                </a:solidFill>
                <a:latin typeface="Calibri"/>
                <a:ea typeface="Calibri"/>
                <a:cs typeface="Calibri"/>
              </a:rPr>
              <a:t>[8]  Espressif Systems. (2024). ESP32 Technical Reference. https://docs.espressif.com/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" y="4142232"/>
            <a:ext cx="8503920" cy="365760"/>
          </a:xfrm>
          <a:prstGeom prst="rect">
            <a:avLst/>
          </a:prstGeom>
          <a:solidFill>
            <a:srgbClr val="1A3A4A"/>
          </a:solidFill>
          <a:ln w="12700">
            <a:solidFill>
              <a:srgbClr val="1F4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0040" y="4142232"/>
            <a:ext cx="45720" cy="3657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200" y="4169664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CE8"/>
                </a:solidFill>
                <a:latin typeface="Calibri"/>
                <a:ea typeface="Calibri"/>
                <a:cs typeface="Calibri"/>
              </a:rPr>
              <a:t>[9]  npm, Inc. (2024). PptxGenJS Library. https://gitbrent.github.io/PptxGenJS/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4562856"/>
            <a:ext cx="8503920" cy="365760"/>
          </a:xfrm>
          <a:prstGeom prst="rect">
            <a:avLst/>
          </a:prstGeom>
          <a:solidFill>
            <a:srgbClr val="0D1F2D"/>
          </a:solidFill>
          <a:ln w="12700">
            <a:solidFill>
              <a:srgbClr val="1F4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20040" y="4562856"/>
            <a:ext cx="45720" cy="36576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7200" y="4590288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DCE8"/>
                </a:solidFill>
                <a:latin typeface="Calibri"/>
                <a:ea typeface="Calibri"/>
                <a:cs typeface="Calibri"/>
              </a:rPr>
              <a:t>[10] Vitejs.dev. (2024). Vite Build Tool Documentation. https://vitejs.dev/guide/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&amp; How They Were Used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9768" y="10789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29768" y="133502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C8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Code Generator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429768" y="1737360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57784" y="16642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MERN stack backend (Node.js, Express, MongoDB schemas)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29768" y="2304288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57784" y="223113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frontend: Login, Dashboard, Food Inventory, Alerts pages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29768" y="2871216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7784" y="279806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middleware and route protection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29768" y="3438144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7784" y="336499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seed scripts and REST API endpoints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29768" y="4005072"/>
            <a:ext cx="64008" cy="6400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57784" y="39319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PowerPoint presentation generated automatically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3264408" y="10515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64408" y="1051560"/>
            <a:ext cx="2743200" cy="5029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74136" y="10789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(Google)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3374136" y="133502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C8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Analytics Engine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374136" y="1737360"/>
            <a:ext cx="64008" cy="640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502152" y="16642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spoilage prediction from sensor data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3374136" y="2304288"/>
            <a:ext cx="64008" cy="640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502152" y="223113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suggestions based on expiring ingredients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3374136" y="2871216"/>
            <a:ext cx="64008" cy="640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502152" y="279806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freshness analysis from temperature/humidity patterns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3374136" y="3438144"/>
            <a:ext cx="64008" cy="640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502152" y="336499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via Gemini AI API within the dashboard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3374136" y="4005072"/>
            <a:ext cx="64008" cy="6400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502152" y="39319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alerts sent to user dashboard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6208776" y="10515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208776" y="1051560"/>
            <a:ext cx="2743200" cy="5029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18504" y="10789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(OpenAI)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6318504" y="133502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C8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Planning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6318504" y="1737360"/>
            <a:ext cx="64008" cy="6400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46520" y="16642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assistance and research synthesis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6318504" y="2304288"/>
            <a:ext cx="64008" cy="6400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46520" y="223113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planning and IoT topology design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6318504" y="2871216"/>
            <a:ext cx="64008" cy="6400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446520" y="279806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 planning and project timeline structuring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6318504" y="3438144"/>
            <a:ext cx="64008" cy="6400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46520" y="336499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Arduino/ESP32 code review and sensor integration advice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6318504" y="4005072"/>
            <a:ext cx="64008" cy="6400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46520" y="39319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assistance for MQTT broker configuration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LIST OF PROMPTS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Prompts Used to Complete This Project</a:t>
            </a:r>
            <a:endParaRPr lang="en-US" sz="200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350344"/>
              </p:ext>
            </p:extLst>
          </p:nvPr>
        </p:nvGraphicFramePr>
        <p:xfrm>
          <a:off x="320040" y="1024128"/>
          <a:ext cx="8671026" cy="3569460"/>
        </p:xfrm>
        <a:graphic>
          <a:graphicData uri="http://schemas.openxmlformats.org/drawingml/2006/table">
            <a:tbl>
              <a:tblPr/>
              <a:tblGrid>
                <a:gridCol w="1305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5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Description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6B6B65"/>
                          </a:solidFill>
                          <a:latin typeface="Calibri"/>
                          <a:ea typeface="Calibri"/>
                          <a:cs typeface="Calibri"/>
                        </a:rPr>
                        <a:t>Create a MongoDB schema for a smart refrigerator with User, Sensor Reading, FoodItem, and Alert collections.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6B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Node.js + Express REST API with JWT auth, sensor routes, food CRUD, and dashboard summary endpoint.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6B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 MongoDB Atlas seed script with demo user, 24h sensor data, 8 food items, and sample alerts.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6B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 React split-layout login page with teal gradient panel, form validation, and JWT integration.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6B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full React dashboard fetching /api/dashboard/summary with metric cards, Chart.js temp history, and food grid.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6B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React food inventory page with modal add form, filter tabs, expiry status pills, and delete API calls.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6B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React alerts page with severity color coding, mark-as-read, filter tabs, and real-time refresh.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6B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React Router + Context API app structure with protected routes and persistent JWT token storage.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6B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an Arduino sketch for ESP32 to read DHT22, HX711, HC-SR501 PIR, and two HC-SR04 sensors, then POST to REST API.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6B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 VS Code step-by-step setup guide: MongoDB Atlas config, backend .env, npm install, seed, and concurrent dev servers.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4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6B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how to integrate the Gemini AI API into a MERN app for real-time food spoilage prediction and recipe suggestions.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1646</Words>
  <Application>Microsoft Office PowerPoint</Application>
  <PresentationFormat>On-screen Show (16:9)</PresentationFormat>
  <Paragraphs>230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Fridge MERN IoT Dashboard</dc:title>
  <dc:subject>PptxGenJS Presentation</dc:subject>
  <dc:creator>PptxGenJS</dc:creator>
  <cp:lastModifiedBy>marvellous</cp:lastModifiedBy>
  <cp:revision>25</cp:revision>
  <dcterms:created xsi:type="dcterms:W3CDTF">2026-04-08T11:52:00Z</dcterms:created>
  <dcterms:modified xsi:type="dcterms:W3CDTF">2026-04-10T04:57:05Z</dcterms:modified>
</cp:coreProperties>
</file>